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embeddedFontLst>
    <p:embeddedFont>
      <p:font typeface="Inconsolata Bold"/>
      <p:regular r:id="rId201314"/>
    </p:embeddedFont>
    <p:embeddedFont>
      <p:font typeface="Fira Sans"/>
      <p:regular r:id="rId201315"/>
    </p:embeddedFont>
    <p:embeddedFont>
      <p:font typeface="Fira Sans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0C17"/>
          </a:solidFill>
          <a:ln/>
        </p:spPr>
      </p:sp>
      <p:sp>
        <p:nvSpPr>
          <p:cNvPr id="3" name="Shape 1"/>
          <p:cNvSpPr/>
          <p:nvPr/>
        </p:nvSpPr>
        <p:spPr>
          <a:xfrm>
            <a:off x="0" y="0"/>
            <a:ext cx="12191695" cy="68580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574" y="2359918"/>
            <a:ext cx="3207166"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NextHikes IT Solutions</a:t>
            </a:r>
            <a:endParaRPr lang="en-US" sz="1850" dirty="0"/>
          </a:p>
        </p:txBody>
      </p:sp>
      <p:sp>
        <p:nvSpPr>
          <p:cNvPr id="3" name="Text 1"/>
          <p:cNvSpPr/>
          <p:nvPr/>
        </p:nvSpPr>
        <p:spPr>
          <a:xfrm>
            <a:off x="661574" y="2730798"/>
            <a:ext cx="10868547"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Exploratory Data Analysis &amp; Revenue Forecasting</a:t>
            </a:r>
            <a:endParaRPr lang="en-US" sz="3700" dirty="0"/>
          </a:p>
        </p:txBody>
      </p:sp>
      <p:sp>
        <p:nvSpPr>
          <p:cNvPr id="4" name="Text 2"/>
          <p:cNvSpPr/>
          <p:nvPr/>
        </p:nvSpPr>
        <p:spPr>
          <a:xfrm>
            <a:off x="661574" y="4195564"/>
            <a:ext cx="11478132" cy="302419"/>
          </a:xfrm>
          <a:prstGeom prst="rect">
            <a:avLst/>
          </a:prstGeom>
          <a:noFill/>
          <a:ln/>
        </p:spPr>
        <p:txBody>
          <a:bodyPr wrap="none" lIns="0" tIns="0" rIns="0" bIns="0" rtlCol="0" anchor="t"/>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Industry Data  · Manisha Nagda</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574" y="1993702"/>
            <a:ext cx="5334958"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Project Goals</a:t>
            </a:r>
            <a:endParaRPr lang="en-US" sz="3700" dirty="0"/>
          </a:p>
        </p:txBody>
      </p:sp>
      <p:sp>
        <p:nvSpPr>
          <p:cNvPr id="3" name="Shape 1"/>
          <p:cNvSpPr/>
          <p:nvPr/>
        </p:nvSpPr>
        <p:spPr>
          <a:xfrm>
            <a:off x="661574" y="2867819"/>
            <a:ext cx="3496778" cy="1996380"/>
          </a:xfrm>
          <a:prstGeom prst="roundRect">
            <a:avLst>
              <a:gd name="adj" fmla="val 1420"/>
            </a:avLst>
          </a:prstGeom>
          <a:solidFill>
            <a:srgbClr val="433550"/>
          </a:solidFill>
          <a:ln/>
        </p:spPr>
      </p:sp>
      <p:sp>
        <p:nvSpPr>
          <p:cNvPr id="4" name="Text 2"/>
          <p:cNvSpPr/>
          <p:nvPr/>
        </p:nvSpPr>
        <p:spPr>
          <a:xfrm>
            <a:off x="850581" y="3056830"/>
            <a:ext cx="2362637" cy="295275"/>
          </a:xfrm>
          <a:prstGeom prst="rect">
            <a:avLst/>
          </a:prstGeom>
          <a:noFill/>
          <a:ln/>
        </p:spPr>
        <p:txBody>
          <a:bodyPr wrap="none" lIns="0" tIns="0" rIns="0" bIns="0" rtlCol="0" anchor="t"/>
          <a:lstStyle/>
          <a:p>
            <a:pPr algn="l" indent="0" marL="0">
              <a:lnSpc>
                <a:spcPct val="104000"/>
              </a:lnSpc>
              <a:buNone/>
            </a:pPr>
            <a:r>
              <a:rPr lang="en-US" sz="1850" b="1" dirty="0">
                <a:solidFill>
                  <a:srgbClr val="DAD1E6"/>
                </a:solidFill>
                <a:latin typeface="Inconsolata Bold" pitchFamily="34" charset="0"/>
                <a:ea typeface="Inconsolata Bold" pitchFamily="34" charset="-122"/>
                <a:cs typeface="Inconsolata Bold" pitchFamily="34" charset="-120"/>
              </a:rPr>
              <a:t>Understand the Data</a:t>
            </a:r>
            <a:endParaRPr lang="en-US" sz="1850" dirty="0"/>
          </a:p>
        </p:txBody>
      </p:sp>
      <p:sp>
        <p:nvSpPr>
          <p:cNvPr id="5" name="Text 3"/>
          <p:cNvSpPr/>
          <p:nvPr/>
        </p:nvSpPr>
        <p:spPr>
          <a:xfrm>
            <a:off x="850581" y="3465513"/>
            <a:ext cx="3118764"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Explore distributions, correlations, and anomalies across 15,000 company records spanning 5 industries and 4 countries.</a:t>
            </a:r>
            <a:endParaRPr lang="en-US" sz="1450" dirty="0"/>
          </a:p>
        </p:txBody>
      </p:sp>
      <p:sp>
        <p:nvSpPr>
          <p:cNvPr id="6" name="Shape 4"/>
          <p:cNvSpPr/>
          <p:nvPr/>
        </p:nvSpPr>
        <p:spPr>
          <a:xfrm>
            <a:off x="4347359" y="2867819"/>
            <a:ext cx="3496877" cy="1996380"/>
          </a:xfrm>
          <a:prstGeom prst="roundRect">
            <a:avLst>
              <a:gd name="adj" fmla="val 1420"/>
            </a:avLst>
          </a:prstGeom>
          <a:solidFill>
            <a:srgbClr val="433550"/>
          </a:solidFill>
          <a:ln/>
        </p:spPr>
      </p:sp>
      <p:sp>
        <p:nvSpPr>
          <p:cNvPr id="7" name="Text 5"/>
          <p:cNvSpPr/>
          <p:nvPr/>
        </p:nvSpPr>
        <p:spPr>
          <a:xfrm>
            <a:off x="4536366" y="3056830"/>
            <a:ext cx="2833716" cy="295275"/>
          </a:xfrm>
          <a:prstGeom prst="rect">
            <a:avLst/>
          </a:prstGeom>
          <a:noFill/>
          <a:ln/>
        </p:spPr>
        <p:txBody>
          <a:bodyPr wrap="none" lIns="0" tIns="0" rIns="0" bIns="0" rtlCol="0" anchor="t"/>
          <a:lstStyle/>
          <a:p>
            <a:pPr algn="l" indent="0" marL="0">
              <a:lnSpc>
                <a:spcPct val="104000"/>
              </a:lnSpc>
              <a:buNone/>
            </a:pPr>
            <a:r>
              <a:rPr lang="en-US" sz="1850" b="1" dirty="0">
                <a:solidFill>
                  <a:srgbClr val="DAD1E6"/>
                </a:solidFill>
                <a:latin typeface="Inconsolata Bold" pitchFamily="34" charset="0"/>
                <a:ea typeface="Inconsolata Bold" pitchFamily="34" charset="-122"/>
                <a:cs typeface="Inconsolata Bold" pitchFamily="34" charset="-120"/>
              </a:rPr>
              <a:t>Derive Business Insights</a:t>
            </a:r>
            <a:endParaRPr lang="en-US" sz="1850" dirty="0"/>
          </a:p>
        </p:txBody>
      </p:sp>
      <p:sp>
        <p:nvSpPr>
          <p:cNvPr id="8" name="Text 6"/>
          <p:cNvSpPr/>
          <p:nvPr/>
        </p:nvSpPr>
        <p:spPr>
          <a:xfrm>
            <a:off x="4536366" y="3465513"/>
            <a:ext cx="311886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Identify key revenue determinants and translate statistical findings into actionable recommendations for stakeholders.</a:t>
            </a:r>
            <a:endParaRPr lang="en-US" sz="1450" dirty="0"/>
          </a:p>
        </p:txBody>
      </p:sp>
      <p:sp>
        <p:nvSpPr>
          <p:cNvPr id="9" name="Shape 7"/>
          <p:cNvSpPr/>
          <p:nvPr/>
        </p:nvSpPr>
        <p:spPr>
          <a:xfrm>
            <a:off x="8033244" y="2867819"/>
            <a:ext cx="3496877" cy="1996380"/>
          </a:xfrm>
          <a:prstGeom prst="roundRect">
            <a:avLst>
              <a:gd name="adj" fmla="val 1420"/>
            </a:avLst>
          </a:prstGeom>
          <a:solidFill>
            <a:srgbClr val="433550"/>
          </a:solidFill>
          <a:ln/>
        </p:spPr>
      </p:sp>
      <p:sp>
        <p:nvSpPr>
          <p:cNvPr id="10" name="Text 8"/>
          <p:cNvSpPr/>
          <p:nvPr/>
        </p:nvSpPr>
        <p:spPr>
          <a:xfrm>
            <a:off x="8222251" y="3056830"/>
            <a:ext cx="2715648" cy="295275"/>
          </a:xfrm>
          <a:prstGeom prst="rect">
            <a:avLst/>
          </a:prstGeom>
          <a:noFill/>
          <a:ln/>
        </p:spPr>
        <p:txBody>
          <a:bodyPr wrap="none" lIns="0" tIns="0" rIns="0" bIns="0" rtlCol="0" anchor="t"/>
          <a:lstStyle/>
          <a:p>
            <a:pPr algn="l" indent="0" marL="0">
              <a:lnSpc>
                <a:spcPct val="104000"/>
              </a:lnSpc>
              <a:buNone/>
            </a:pPr>
            <a:r>
              <a:rPr lang="en-US" sz="1850" b="1" dirty="0">
                <a:solidFill>
                  <a:srgbClr val="DAD1E6"/>
                </a:solidFill>
                <a:latin typeface="Inconsolata Bold" pitchFamily="34" charset="0"/>
                <a:ea typeface="Inconsolata Bold" pitchFamily="34" charset="-122"/>
                <a:cs typeface="Inconsolata Bold" pitchFamily="34" charset="-120"/>
              </a:rPr>
              <a:t>Build Predictive Models</a:t>
            </a:r>
            <a:endParaRPr lang="en-US" sz="1850" dirty="0"/>
          </a:p>
        </p:txBody>
      </p:sp>
      <p:sp>
        <p:nvSpPr>
          <p:cNvPr id="11" name="Text 9"/>
          <p:cNvSpPr/>
          <p:nvPr/>
        </p:nvSpPr>
        <p:spPr>
          <a:xfrm>
            <a:off x="8222251" y="3465513"/>
            <a:ext cx="311886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Train and evaluate machine learning models to forecast corporate revenue and support data-driven decision-making.</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574" y="703659"/>
            <a:ext cx="3917356" cy="413445"/>
          </a:xfrm>
          <a:prstGeom prst="rect">
            <a:avLst/>
          </a:prstGeom>
          <a:noFill/>
          <a:ln/>
        </p:spPr>
        <p:txBody>
          <a:bodyPr wrap="none" lIns="0" tIns="0" rIns="0" bIns="0" rtlCol="0" anchor="t"/>
          <a:lstStyle/>
          <a:p>
            <a:pPr algn="l" indent="0" marL="0">
              <a:lnSpc>
                <a:spcPct val="104000"/>
              </a:lnSpc>
              <a:buNone/>
            </a:pPr>
            <a:r>
              <a:rPr lang="en-US" sz="2600" b="1" dirty="0">
                <a:solidFill>
                  <a:srgbClr val="F94CAF"/>
                </a:solidFill>
                <a:latin typeface="Inconsolata Bold" pitchFamily="34" charset="0"/>
                <a:ea typeface="Inconsolata Bold" pitchFamily="34" charset="-122"/>
                <a:cs typeface="Inconsolata Bold" pitchFamily="34" charset="-120"/>
              </a:rPr>
              <a:t>Dataset Overview</a:t>
            </a:r>
            <a:endParaRPr lang="en-US" sz="2600" dirty="0"/>
          </a:p>
        </p:txBody>
      </p:sp>
      <p:sp>
        <p:nvSpPr>
          <p:cNvPr id="3" name="Text 1"/>
          <p:cNvSpPr/>
          <p:nvPr/>
        </p:nvSpPr>
        <p:spPr>
          <a:xfrm>
            <a:off x="661574" y="1302345"/>
            <a:ext cx="11478132" cy="179983"/>
          </a:xfrm>
          <a:prstGeom prst="rect">
            <a:avLst/>
          </a:prstGeom>
          <a:noFill/>
          <a:ln/>
        </p:spPr>
        <p:txBody>
          <a:bodyPr wrap="none" lIns="0" tIns="0" rIns="0" bIns="0" rtlCol="0" anchor="t"/>
          <a:lstStyle/>
          <a:p>
            <a:pPr algn="l" indent="0" marL="0">
              <a:lnSpc>
                <a:spcPct val="113000"/>
              </a:lnSpc>
              <a:buNone/>
            </a:pPr>
            <a:r>
              <a:rPr lang="en-US" sz="1000" dirty="0">
                <a:solidFill>
                  <a:srgbClr val="DAD1E6"/>
                </a:solidFill>
                <a:latin typeface="Fira Sans" pitchFamily="34" charset="0"/>
                <a:ea typeface="Fira Sans" pitchFamily="34" charset="-122"/>
                <a:cs typeface="Fira Sans" pitchFamily="34" charset="-120"/>
              </a:rPr>
              <a:t>A comprehensive dataset of </a:t>
            </a:r>
            <a:pPr algn="l" indent="0" marL="0">
              <a:lnSpc>
                <a:spcPct val="113000"/>
              </a:lnSpc>
              <a:buNone/>
            </a:pPr>
            <a:r>
              <a:rPr lang="en-US" sz="1000" b="1" dirty="0">
                <a:solidFill>
                  <a:srgbClr val="DAD1E6"/>
                </a:solidFill>
                <a:latin typeface="Fira Sans" pitchFamily="34" charset="0"/>
                <a:ea typeface="Fira Sans" pitchFamily="34" charset="-122"/>
                <a:cs typeface="Fira Sans" pitchFamily="34" charset="-120"/>
              </a:rPr>
              <a:t>15,000 company records</a:t>
            </a:r>
            <a:pPr algn="l" indent="0" marL="0">
              <a:lnSpc>
                <a:spcPct val="113000"/>
              </a:lnSpc>
              <a:buNone/>
            </a:pPr>
            <a:r>
              <a:rPr lang="en-US" sz="1000" dirty="0">
                <a:solidFill>
                  <a:srgbClr val="DAD1E6"/>
                </a:solidFill>
                <a:latin typeface="Fira Sans" pitchFamily="34" charset="0"/>
                <a:ea typeface="Fira Sans" pitchFamily="34" charset="-122"/>
                <a:cs typeface="Fira Sans" pitchFamily="34" charset="-120"/>
              </a:rPr>
              <a:t> across 5 industries and 4 countries, with 12 original features covering financial, operational, and categorical dimensions.</a:t>
            </a:r>
            <a:endParaRPr lang="en-US" sz="1000" dirty="0"/>
          </a:p>
        </p:txBody>
      </p:sp>
      <p:sp>
        <p:nvSpPr>
          <p:cNvPr id="4" name="Text 2"/>
          <p:cNvSpPr/>
          <p:nvPr/>
        </p:nvSpPr>
        <p:spPr>
          <a:xfrm>
            <a:off x="1468004" y="1652588"/>
            <a:ext cx="3763471" cy="436662"/>
          </a:xfrm>
          <a:prstGeom prst="rect">
            <a:avLst/>
          </a:prstGeom>
          <a:noFill/>
          <a:ln/>
        </p:spPr>
        <p:txBody>
          <a:bodyPr wrap="none" lIns="0" tIns="0" rIns="0" bIns="0" rtlCol="0" anchor="t"/>
          <a:lstStyle/>
          <a:p>
            <a:pPr algn="ctr" indent="0" marL="0">
              <a:lnSpc>
                <a:spcPct val="83000"/>
              </a:lnSpc>
              <a:buNone/>
            </a:pPr>
            <a:r>
              <a:rPr lang="en-US" sz="3400" b="1" dirty="0">
                <a:solidFill>
                  <a:srgbClr val="DAD1E6"/>
                </a:solidFill>
                <a:latin typeface="Inconsolata Bold" pitchFamily="34" charset="0"/>
                <a:ea typeface="Inconsolata Bold" pitchFamily="34" charset="-122"/>
                <a:cs typeface="Inconsolata Bold" pitchFamily="34" charset="-120"/>
              </a:rPr>
              <a:t>15K</a:t>
            </a:r>
            <a:endParaRPr lang="en-US" sz="3400" dirty="0"/>
          </a:p>
        </p:txBody>
      </p:sp>
      <p:sp>
        <p:nvSpPr>
          <p:cNvPr id="5" name="Text 3"/>
          <p:cNvSpPr/>
          <p:nvPr/>
        </p:nvSpPr>
        <p:spPr>
          <a:xfrm>
            <a:off x="2522871" y="2224782"/>
            <a:ext cx="1653836" cy="206673"/>
          </a:xfrm>
          <a:prstGeom prst="rect">
            <a:avLst/>
          </a:prstGeom>
          <a:noFill/>
          <a:ln/>
        </p:spPr>
        <p:txBody>
          <a:bodyPr wrap="none" lIns="0" tIns="0" rIns="0" bIns="0" rtlCol="0" anchor="t"/>
          <a:lstStyle/>
          <a:p>
            <a:pPr algn="ctr" indent="0" marL="0">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Total Records</a:t>
            </a:r>
            <a:endParaRPr lang="en-US" sz="1300" dirty="0"/>
          </a:p>
        </p:txBody>
      </p:sp>
      <p:sp>
        <p:nvSpPr>
          <p:cNvPr id="6" name="Text 4"/>
          <p:cNvSpPr/>
          <p:nvPr/>
        </p:nvSpPr>
        <p:spPr>
          <a:xfrm>
            <a:off x="661574" y="2487017"/>
            <a:ext cx="5376430" cy="179983"/>
          </a:xfrm>
          <a:prstGeom prst="rect">
            <a:avLst/>
          </a:prstGeom>
          <a:noFill/>
          <a:ln/>
        </p:spPr>
        <p:txBody>
          <a:bodyPr wrap="none" lIns="0" tIns="0" rIns="0" bIns="0" rtlCol="0" anchor="t"/>
          <a:lstStyle/>
          <a:p>
            <a:pPr algn="ctr" indent="0" marL="0">
              <a:lnSpc>
                <a:spcPct val="113000"/>
              </a:lnSpc>
              <a:buNone/>
            </a:pPr>
            <a:r>
              <a:rPr lang="en-US" sz="1000" dirty="0">
                <a:solidFill>
                  <a:srgbClr val="DAD1E6"/>
                </a:solidFill>
                <a:latin typeface="Fira Sans" pitchFamily="34" charset="0"/>
                <a:ea typeface="Fira Sans" pitchFamily="34" charset="-122"/>
                <a:cs typeface="Fira Sans" pitchFamily="34" charset="-120"/>
              </a:rPr>
              <a:t>Companies across all sizes</a:t>
            </a:r>
            <a:endParaRPr lang="en-US" sz="1000" dirty="0"/>
          </a:p>
        </p:txBody>
      </p:sp>
      <p:sp>
        <p:nvSpPr>
          <p:cNvPr id="7" name="Text 5"/>
          <p:cNvSpPr/>
          <p:nvPr/>
        </p:nvSpPr>
        <p:spPr>
          <a:xfrm>
            <a:off x="6960120" y="1652588"/>
            <a:ext cx="3763471" cy="436662"/>
          </a:xfrm>
          <a:prstGeom prst="rect">
            <a:avLst/>
          </a:prstGeom>
          <a:noFill/>
          <a:ln/>
        </p:spPr>
        <p:txBody>
          <a:bodyPr wrap="none" lIns="0" tIns="0" rIns="0" bIns="0" rtlCol="0" anchor="t"/>
          <a:lstStyle/>
          <a:p>
            <a:pPr algn="ctr" indent="0" marL="0">
              <a:lnSpc>
                <a:spcPct val="83000"/>
              </a:lnSpc>
              <a:buNone/>
            </a:pPr>
            <a:r>
              <a:rPr lang="en-US" sz="3400" b="1" dirty="0">
                <a:solidFill>
                  <a:srgbClr val="DAD1E6"/>
                </a:solidFill>
                <a:latin typeface="Inconsolata Bold" pitchFamily="34" charset="0"/>
                <a:ea typeface="Inconsolata Bold" pitchFamily="34" charset="-122"/>
                <a:cs typeface="Inconsolata Bold" pitchFamily="34" charset="-120"/>
              </a:rPr>
              <a:t>12</a:t>
            </a:r>
            <a:endParaRPr lang="en-US" sz="3400" dirty="0"/>
          </a:p>
        </p:txBody>
      </p:sp>
      <p:sp>
        <p:nvSpPr>
          <p:cNvPr id="8" name="Text 6"/>
          <p:cNvSpPr/>
          <p:nvPr/>
        </p:nvSpPr>
        <p:spPr>
          <a:xfrm>
            <a:off x="8014988" y="2224782"/>
            <a:ext cx="1653836" cy="206673"/>
          </a:xfrm>
          <a:prstGeom prst="rect">
            <a:avLst/>
          </a:prstGeom>
          <a:noFill/>
          <a:ln/>
        </p:spPr>
        <p:txBody>
          <a:bodyPr wrap="none" lIns="0" tIns="0" rIns="0" bIns="0" rtlCol="0" anchor="t"/>
          <a:lstStyle/>
          <a:p>
            <a:pPr algn="ctr" indent="0" marL="0">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Original Features</a:t>
            </a:r>
            <a:endParaRPr lang="en-US" sz="1300" dirty="0"/>
          </a:p>
        </p:txBody>
      </p:sp>
      <p:sp>
        <p:nvSpPr>
          <p:cNvPr id="9" name="Text 7"/>
          <p:cNvSpPr/>
          <p:nvPr/>
        </p:nvSpPr>
        <p:spPr>
          <a:xfrm>
            <a:off x="6153691" y="2487017"/>
            <a:ext cx="5376430" cy="179983"/>
          </a:xfrm>
          <a:prstGeom prst="rect">
            <a:avLst/>
          </a:prstGeom>
          <a:noFill/>
          <a:ln/>
        </p:spPr>
        <p:txBody>
          <a:bodyPr wrap="none" lIns="0" tIns="0" rIns="0" bIns="0" rtlCol="0" anchor="t"/>
          <a:lstStyle/>
          <a:p>
            <a:pPr algn="ctr" indent="0" marL="0">
              <a:lnSpc>
                <a:spcPct val="113000"/>
              </a:lnSpc>
              <a:buNone/>
            </a:pPr>
            <a:r>
              <a:rPr lang="en-US" sz="1000" dirty="0">
                <a:solidFill>
                  <a:srgbClr val="DAD1E6"/>
                </a:solidFill>
                <a:latin typeface="Fira Sans" pitchFamily="34" charset="0"/>
                <a:ea typeface="Fira Sans" pitchFamily="34" charset="-122"/>
                <a:cs typeface="Fira Sans" pitchFamily="34" charset="-120"/>
              </a:rPr>
              <a:t>Financial &amp; operational variables</a:t>
            </a:r>
            <a:endParaRPr lang="en-US" sz="1000" dirty="0"/>
          </a:p>
        </p:txBody>
      </p:sp>
      <p:sp>
        <p:nvSpPr>
          <p:cNvPr id="10" name="Text 8"/>
          <p:cNvSpPr/>
          <p:nvPr/>
        </p:nvSpPr>
        <p:spPr>
          <a:xfrm>
            <a:off x="1468004" y="2918321"/>
            <a:ext cx="3763471" cy="436662"/>
          </a:xfrm>
          <a:prstGeom prst="rect">
            <a:avLst/>
          </a:prstGeom>
          <a:noFill/>
          <a:ln/>
        </p:spPr>
        <p:txBody>
          <a:bodyPr wrap="none" lIns="0" tIns="0" rIns="0" bIns="0" rtlCol="0" anchor="t"/>
          <a:lstStyle/>
          <a:p>
            <a:pPr algn="ctr" indent="0" marL="0">
              <a:lnSpc>
                <a:spcPct val="83000"/>
              </a:lnSpc>
              <a:buNone/>
            </a:pPr>
            <a:r>
              <a:rPr lang="en-US" sz="3400" b="1" dirty="0">
                <a:solidFill>
                  <a:srgbClr val="DAD1E6"/>
                </a:solidFill>
                <a:latin typeface="Inconsolata Bold" pitchFamily="34" charset="0"/>
                <a:ea typeface="Inconsolata Bold" pitchFamily="34" charset="-122"/>
                <a:cs typeface="Inconsolata Bold" pitchFamily="34" charset="-120"/>
              </a:rPr>
              <a:t>5</a:t>
            </a:r>
            <a:endParaRPr lang="en-US" sz="3400" dirty="0"/>
          </a:p>
        </p:txBody>
      </p:sp>
      <p:sp>
        <p:nvSpPr>
          <p:cNvPr id="11" name="Text 9"/>
          <p:cNvSpPr/>
          <p:nvPr/>
        </p:nvSpPr>
        <p:spPr>
          <a:xfrm>
            <a:off x="2522871" y="3490516"/>
            <a:ext cx="1653836" cy="206673"/>
          </a:xfrm>
          <a:prstGeom prst="rect">
            <a:avLst/>
          </a:prstGeom>
          <a:noFill/>
          <a:ln/>
        </p:spPr>
        <p:txBody>
          <a:bodyPr wrap="none" lIns="0" tIns="0" rIns="0" bIns="0" rtlCol="0" anchor="t"/>
          <a:lstStyle/>
          <a:p>
            <a:pPr algn="ctr" indent="0" marL="0">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Industries</a:t>
            </a:r>
            <a:endParaRPr lang="en-US" sz="1300" dirty="0"/>
          </a:p>
        </p:txBody>
      </p:sp>
      <p:sp>
        <p:nvSpPr>
          <p:cNvPr id="12" name="Text 10"/>
          <p:cNvSpPr/>
          <p:nvPr/>
        </p:nvSpPr>
        <p:spPr>
          <a:xfrm>
            <a:off x="661574" y="3752751"/>
            <a:ext cx="5376430" cy="179983"/>
          </a:xfrm>
          <a:prstGeom prst="rect">
            <a:avLst/>
          </a:prstGeom>
          <a:noFill/>
          <a:ln/>
        </p:spPr>
        <p:txBody>
          <a:bodyPr wrap="none" lIns="0" tIns="0" rIns="0" bIns="0" rtlCol="0" anchor="t"/>
          <a:lstStyle/>
          <a:p>
            <a:pPr algn="ctr" indent="0" marL="0">
              <a:lnSpc>
                <a:spcPct val="113000"/>
              </a:lnSpc>
              <a:buNone/>
            </a:pPr>
            <a:r>
              <a:rPr lang="en-US" sz="1000" dirty="0">
                <a:solidFill>
                  <a:srgbClr val="DAD1E6"/>
                </a:solidFill>
                <a:latin typeface="Fira Sans" pitchFamily="34" charset="0"/>
                <a:ea typeface="Fira Sans" pitchFamily="34" charset="-122"/>
                <a:cs typeface="Fira Sans" pitchFamily="34" charset="-120"/>
              </a:rPr>
              <a:t>Diverse sector coverage</a:t>
            </a:r>
            <a:endParaRPr lang="en-US" sz="1000" dirty="0"/>
          </a:p>
        </p:txBody>
      </p:sp>
      <p:sp>
        <p:nvSpPr>
          <p:cNvPr id="13" name="Text 11"/>
          <p:cNvSpPr/>
          <p:nvPr/>
        </p:nvSpPr>
        <p:spPr>
          <a:xfrm>
            <a:off x="6960120" y="2918321"/>
            <a:ext cx="3763471" cy="436662"/>
          </a:xfrm>
          <a:prstGeom prst="rect">
            <a:avLst/>
          </a:prstGeom>
          <a:noFill/>
          <a:ln/>
        </p:spPr>
        <p:txBody>
          <a:bodyPr wrap="none" lIns="0" tIns="0" rIns="0" bIns="0" rtlCol="0" anchor="t"/>
          <a:lstStyle/>
          <a:p>
            <a:pPr algn="ctr" indent="0" marL="0">
              <a:lnSpc>
                <a:spcPct val="83000"/>
              </a:lnSpc>
              <a:buNone/>
            </a:pPr>
            <a:r>
              <a:rPr lang="en-US" sz="3400" b="1" dirty="0">
                <a:solidFill>
                  <a:srgbClr val="DAD1E6"/>
                </a:solidFill>
                <a:latin typeface="Inconsolata Bold" pitchFamily="34" charset="0"/>
                <a:ea typeface="Inconsolata Bold" pitchFamily="34" charset="-122"/>
                <a:cs typeface="Inconsolata Bold" pitchFamily="34" charset="-120"/>
              </a:rPr>
              <a:t>4</a:t>
            </a:r>
            <a:endParaRPr lang="en-US" sz="3400" dirty="0"/>
          </a:p>
        </p:txBody>
      </p:sp>
      <p:sp>
        <p:nvSpPr>
          <p:cNvPr id="14" name="Text 12"/>
          <p:cNvSpPr/>
          <p:nvPr/>
        </p:nvSpPr>
        <p:spPr>
          <a:xfrm>
            <a:off x="8014988" y="3490516"/>
            <a:ext cx="1653836" cy="206673"/>
          </a:xfrm>
          <a:prstGeom prst="rect">
            <a:avLst/>
          </a:prstGeom>
          <a:noFill/>
          <a:ln/>
        </p:spPr>
        <p:txBody>
          <a:bodyPr wrap="none" lIns="0" tIns="0" rIns="0" bIns="0" rtlCol="0" anchor="t"/>
          <a:lstStyle/>
          <a:p>
            <a:pPr algn="ctr" indent="0" marL="0">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Countries</a:t>
            </a:r>
            <a:endParaRPr lang="en-US" sz="1300" dirty="0"/>
          </a:p>
        </p:txBody>
      </p:sp>
      <p:sp>
        <p:nvSpPr>
          <p:cNvPr id="15" name="Text 13"/>
          <p:cNvSpPr/>
          <p:nvPr/>
        </p:nvSpPr>
        <p:spPr>
          <a:xfrm>
            <a:off x="6153691" y="3752751"/>
            <a:ext cx="5376430" cy="179983"/>
          </a:xfrm>
          <a:prstGeom prst="rect">
            <a:avLst/>
          </a:prstGeom>
          <a:noFill/>
          <a:ln/>
        </p:spPr>
        <p:txBody>
          <a:bodyPr wrap="none" lIns="0" tIns="0" rIns="0" bIns="0" rtlCol="0" anchor="t"/>
          <a:lstStyle/>
          <a:p>
            <a:pPr algn="ctr" indent="0" marL="0">
              <a:lnSpc>
                <a:spcPct val="113000"/>
              </a:lnSpc>
              <a:buNone/>
            </a:pPr>
            <a:r>
              <a:rPr lang="en-US" sz="1000" dirty="0">
                <a:solidFill>
                  <a:srgbClr val="DAD1E6"/>
                </a:solidFill>
                <a:latin typeface="Fira Sans" pitchFamily="34" charset="0"/>
                <a:ea typeface="Fira Sans" pitchFamily="34" charset="-122"/>
                <a:cs typeface="Fira Sans" pitchFamily="34" charset="-120"/>
              </a:rPr>
              <a:t>Multi-regional representation</a:t>
            </a:r>
            <a:endParaRPr lang="en-US" sz="1000" dirty="0"/>
          </a:p>
        </p:txBody>
      </p:sp>
      <p:pic>
        <p:nvPicPr>
          <p:cNvPr id="16" name="Image 0" descr="preencoded.png">    </p:cNvPr>
          <p:cNvPicPr>
            <a:picLocks noChangeAspect="1"/>
          </p:cNvPicPr>
          <p:nvPr/>
        </p:nvPicPr>
        <p:blipFill>
          <a:blip r:embed="rId1"/>
          <a:stretch>
            <a:fillRect/>
          </a:stretch>
        </p:blipFill>
        <p:spPr>
          <a:xfrm>
            <a:off x="2294475" y="4036913"/>
            <a:ext cx="7602744" cy="21173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574" y="878880"/>
            <a:ext cx="9586474"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Data Preparation &amp; Feature Engineering</a:t>
            </a:r>
            <a:endParaRPr lang="en-US" sz="3700" dirty="0"/>
          </a:p>
        </p:txBody>
      </p:sp>
      <p:sp>
        <p:nvSpPr>
          <p:cNvPr id="3" name="Text 1"/>
          <p:cNvSpPr/>
          <p:nvPr/>
        </p:nvSpPr>
        <p:spPr>
          <a:xfrm>
            <a:off x="661574" y="1942009"/>
            <a:ext cx="2972222"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Data Preparation</a:t>
            </a:r>
            <a:endParaRPr lang="en-US" sz="1850" dirty="0"/>
          </a:p>
        </p:txBody>
      </p:sp>
      <p:sp>
        <p:nvSpPr>
          <p:cNvPr id="4" name="Text 2"/>
          <p:cNvSpPr/>
          <p:nvPr/>
        </p:nvSpPr>
        <p:spPr>
          <a:xfrm>
            <a:off x="661574" y="2426295"/>
            <a:ext cx="5203695" cy="1776413"/>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No missing values across 12 columns</a:t>
            </a:r>
            <a:endParaRPr lang="en-US" sz="1450" dirty="0"/>
          </a:p>
          <a:p>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No duplicates in 15,000 rows</a:t>
            </a:r>
            <a:endParaRPr lang="en-US" sz="1450" dirty="0"/>
          </a:p>
          <a:p>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created_date converted to datetime</a:t>
            </a:r>
            <a:endParaRPr lang="en-US" sz="1450" dirty="0"/>
          </a:p>
          <a:p>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founded_year replaced by company_age (2026 − year)</a:t>
            </a:r>
            <a:endParaRPr lang="en-US" sz="1450" dirty="0"/>
          </a:p>
          <a:p>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All columns validated for correct data types</a:t>
            </a:r>
            <a:endParaRPr lang="en-US" sz="1450" dirty="0"/>
          </a:p>
        </p:txBody>
      </p:sp>
      <p:sp>
        <p:nvSpPr>
          <p:cNvPr id="5" name="Text 3"/>
          <p:cNvSpPr/>
          <p:nvPr/>
        </p:nvSpPr>
        <p:spPr>
          <a:xfrm>
            <a:off x="6332776" y="1942009"/>
            <a:ext cx="2972222"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Engineered Features</a:t>
            </a:r>
            <a:endParaRPr lang="en-US" sz="1850" dirty="0"/>
          </a:p>
        </p:txBody>
      </p:sp>
      <p:sp>
        <p:nvSpPr>
          <p:cNvPr id="6" name="Text 4"/>
          <p:cNvSpPr/>
          <p:nvPr/>
        </p:nvSpPr>
        <p:spPr>
          <a:xfrm>
            <a:off x="6332776" y="2426295"/>
            <a:ext cx="5203695" cy="3486745"/>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company_age</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2026 − founded_year</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customers_per_employee</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customer_count / employee_count</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revenue_per_employee</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revenue / employee_count</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revenue_per_customer</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revenue / customer_count</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absolute_profit_million</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revenue × profit_margin / 100</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profit_per_employee</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profit / employee_count</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company_size_category</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Binned employee_count (quantile)</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created_year / month</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 Extracted from created_date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6503" y="558105"/>
            <a:ext cx="5261141" cy="581422"/>
          </a:xfrm>
          <a:prstGeom prst="rect">
            <a:avLst/>
          </a:prstGeom>
          <a:noFill/>
          <a:ln/>
        </p:spPr>
        <p:txBody>
          <a:bodyPr wrap="none" lIns="0" tIns="0" rIns="0" bIns="0" rtlCol="0" anchor="t"/>
          <a:lstStyle/>
          <a:p>
            <a:pPr algn="l" indent="0" marL="0">
              <a:lnSpc>
                <a:spcPct val="104000"/>
              </a:lnSpc>
              <a:buNone/>
            </a:pPr>
            <a:r>
              <a:rPr lang="en-US" sz="3650" b="1" dirty="0">
                <a:solidFill>
                  <a:srgbClr val="F94CAF"/>
                </a:solidFill>
                <a:latin typeface="Inconsolata Bold" pitchFamily="34" charset="0"/>
                <a:ea typeface="Inconsolata Bold" pitchFamily="34" charset="-122"/>
                <a:cs typeface="Inconsolata Bold" pitchFamily="34" charset="-120"/>
              </a:rPr>
              <a:t>Univariate Analysis</a:t>
            </a:r>
            <a:endParaRPr lang="en-US" sz="3650" dirty="0"/>
          </a:p>
        </p:txBody>
      </p:sp>
      <p:sp>
        <p:nvSpPr>
          <p:cNvPr id="3" name="Text 1"/>
          <p:cNvSpPr/>
          <p:nvPr/>
        </p:nvSpPr>
        <p:spPr>
          <a:xfrm>
            <a:off x="746503" y="1505843"/>
            <a:ext cx="11308273" cy="295275"/>
          </a:xfrm>
          <a:prstGeom prst="rect">
            <a:avLst/>
          </a:prstGeom>
          <a:noFill/>
          <a:ln/>
        </p:spPr>
        <p:txBody>
          <a:bodyPr wrap="none" lIns="0" tIns="0" rIns="0" bIns="0" rtlCol="0" anchor="t"/>
          <a:lstStyle/>
          <a:p>
            <a:pPr algn="l" indent="0" marL="0">
              <a:lnSpc>
                <a:spcPct val="132000"/>
              </a:lnSpc>
              <a:buNone/>
            </a:pPr>
            <a:r>
              <a:rPr lang="en-US" sz="1450" dirty="0">
                <a:solidFill>
                  <a:srgbClr val="DAD1E6"/>
                </a:solidFill>
                <a:latin typeface="Fira Sans" pitchFamily="34" charset="0"/>
                <a:ea typeface="Fira Sans" pitchFamily="34" charset="-122"/>
                <a:cs typeface="Fira Sans" pitchFamily="34" charset="-120"/>
              </a:rPr>
              <a:t>Distribution of annual revenue and absolute profit across the dataset.</a:t>
            </a:r>
            <a:endParaRPr lang="en-US" sz="1450" dirty="0"/>
          </a:p>
        </p:txBody>
      </p:sp>
      <p:pic>
        <p:nvPicPr>
          <p:cNvPr id="4" name="Image 0" descr="preencoded.png">    </p:cNvPr>
          <p:cNvPicPr>
            <a:picLocks noChangeAspect="1"/>
          </p:cNvPicPr>
          <p:nvPr/>
        </p:nvPicPr>
        <p:blipFill>
          <a:blip r:embed="rId1"/>
          <a:stretch>
            <a:fillRect/>
          </a:stretch>
        </p:blipFill>
        <p:spPr>
          <a:xfrm>
            <a:off x="746503" y="2213074"/>
            <a:ext cx="5122437" cy="3020120"/>
          </a:xfrm>
          <a:prstGeom prst="rect">
            <a:avLst/>
          </a:prstGeom>
        </p:spPr>
      </p:pic>
      <p:pic>
        <p:nvPicPr>
          <p:cNvPr id="5" name="Image 1" descr="preencoded.png">    </p:cNvPr>
          <p:cNvPicPr>
            <a:picLocks noChangeAspect="1"/>
          </p:cNvPicPr>
          <p:nvPr/>
        </p:nvPicPr>
        <p:blipFill>
          <a:blip r:embed="rId2"/>
          <a:stretch>
            <a:fillRect/>
          </a:stretch>
        </p:blipFill>
        <p:spPr>
          <a:xfrm>
            <a:off x="6329105" y="2213074"/>
            <a:ext cx="5122437" cy="3008511"/>
          </a:xfrm>
          <a:prstGeom prst="rect">
            <a:avLst/>
          </a:prstGeom>
        </p:spPr>
      </p:pic>
      <p:sp>
        <p:nvSpPr>
          <p:cNvPr id="6" name="Text 2"/>
          <p:cNvSpPr/>
          <p:nvPr/>
        </p:nvSpPr>
        <p:spPr>
          <a:xfrm>
            <a:off x="746503" y="5645150"/>
            <a:ext cx="10698689" cy="654645"/>
          </a:xfrm>
          <a:prstGeom prst="rect">
            <a:avLst/>
          </a:prstGeom>
          <a:noFill/>
          <a:ln/>
        </p:spPr>
        <p:txBody>
          <a:bodyPr wrap="square" lIns="0" tIns="0" rIns="0" bIns="0" rtlCol="0" anchor="t">
            <a:normAutofit/>
          </a:bodyPr>
          <a:lstStyle/>
          <a:p>
            <a:pPr algn="l" marL="342900" indent="-342900">
              <a:lnSpc>
                <a:spcPct val="132000"/>
              </a:lnSpc>
              <a:buSzPct val="100000"/>
              <a:buChar char="•"/>
            </a:pPr>
            <a:r>
              <a:rPr lang="en-US" sz="1450" b="1" dirty="0">
                <a:solidFill>
                  <a:srgbClr val="DAD1E6"/>
                </a:solidFill>
                <a:latin typeface="Fira Sans" pitchFamily="34" charset="0"/>
                <a:ea typeface="Fira Sans" pitchFamily="34" charset="-122"/>
                <a:cs typeface="Fira Sans" pitchFamily="34" charset="-120"/>
              </a:rPr>
              <a:t>Annual revenue</a:t>
            </a:r>
            <a:pPr algn="l" marL="342900" indent="-342900">
              <a:lnSpc>
                <a:spcPct val="132000"/>
              </a:lnSpc>
              <a:buSzPct val="100000"/>
              <a:buChar char="•"/>
            </a:pPr>
            <a:r>
              <a:rPr lang="en-US" sz="1450" dirty="0">
                <a:solidFill>
                  <a:srgbClr val="DAD1E6"/>
                </a:solidFill>
                <a:latin typeface="Fira Sans" pitchFamily="34" charset="0"/>
                <a:ea typeface="Fira Sans" pitchFamily="34" charset="-122"/>
                <a:cs typeface="Fira Sans" pitchFamily="34" charset="-120"/>
              </a:rPr>
              <a:t> is nearly uniform (skewness ≈ 0.03), spanning $50M–$1,050M evenly</a:t>
            </a:r>
            <a:endParaRPr lang="en-US" sz="1450" dirty="0"/>
          </a:p>
          <a:p>
            <a:pPr algn="l" marL="342900" indent="-342900">
              <a:lnSpc>
                <a:spcPct val="132000"/>
              </a:lnSpc>
              <a:buSzPct val="100000"/>
              <a:buChar char="•"/>
            </a:pPr>
            <a:r>
              <a:rPr lang="en-US" sz="1450" b="1" dirty="0">
                <a:solidFill>
                  <a:srgbClr val="DAD1E6"/>
                </a:solidFill>
                <a:latin typeface="Fira Sans" pitchFamily="34" charset="0"/>
                <a:ea typeface="Fira Sans" pitchFamily="34" charset="-122"/>
                <a:cs typeface="Fira Sans" pitchFamily="34" charset="-120"/>
              </a:rPr>
              <a:t>Absolute profit</a:t>
            </a:r>
            <a:pPr algn="l" marL="342900" indent="-342900">
              <a:lnSpc>
                <a:spcPct val="132000"/>
              </a:lnSpc>
              <a:buSzPct val="100000"/>
              <a:buChar char="•"/>
            </a:pPr>
            <a:r>
              <a:rPr lang="en-US" sz="1450" dirty="0">
                <a:solidFill>
                  <a:srgbClr val="DAD1E6"/>
                </a:solidFill>
                <a:latin typeface="Fira Sans" pitchFamily="34" charset="0"/>
                <a:ea typeface="Fira Sans" pitchFamily="34" charset="-122"/>
                <a:cs typeface="Fira Sans" pitchFamily="34" charset="-120"/>
              </a:rPr>
              <a:t> is positively skewed — most firms earn modest margins, with a long right tail of high-margin outliers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553740"/>
            <a:ext cx="4862490" cy="531614"/>
          </a:xfrm>
          <a:prstGeom prst="rect">
            <a:avLst/>
          </a:prstGeom>
          <a:noFill/>
          <a:ln/>
        </p:spPr>
        <p:txBody>
          <a:bodyPr wrap="none" lIns="0" tIns="0" rIns="0" bIns="0" rtlCol="0" anchor="t"/>
          <a:lstStyle/>
          <a:p>
            <a:pPr algn="l" indent="0" marL="0">
              <a:lnSpc>
                <a:spcPct val="104000"/>
              </a:lnSpc>
              <a:buNone/>
            </a:pPr>
            <a:r>
              <a:rPr lang="en-US" sz="3300" b="1" dirty="0">
                <a:solidFill>
                  <a:srgbClr val="F94CAF"/>
                </a:solidFill>
                <a:latin typeface="Inconsolata Bold" pitchFamily="34" charset="0"/>
                <a:ea typeface="Inconsolata Bold" pitchFamily="34" charset="-122"/>
                <a:cs typeface="Inconsolata Bold" pitchFamily="34" charset="-120"/>
              </a:rPr>
              <a:t>Categorical Analysis</a:t>
            </a:r>
            <a:endParaRPr lang="en-US" sz="3300" dirty="0"/>
          </a:p>
        </p:txBody>
      </p:sp>
      <p:pic>
        <p:nvPicPr>
          <p:cNvPr id="3" name="Image 0" descr="preencoded.png">    </p:cNvPr>
          <p:cNvPicPr>
            <a:picLocks noChangeAspect="1"/>
          </p:cNvPicPr>
          <p:nvPr/>
        </p:nvPicPr>
        <p:blipFill>
          <a:blip r:embed="rId1"/>
          <a:stretch>
            <a:fillRect/>
          </a:stretch>
        </p:blipFill>
        <p:spPr>
          <a:xfrm>
            <a:off x="661574" y="1487190"/>
            <a:ext cx="5809807" cy="2027833"/>
          </a:xfrm>
          <a:prstGeom prst="rect">
            <a:avLst/>
          </a:prstGeom>
        </p:spPr>
      </p:pic>
      <p:pic>
        <p:nvPicPr>
          <p:cNvPr id="4" name="Image 1" descr="preencoded.png">    </p:cNvPr>
          <p:cNvPicPr>
            <a:picLocks noChangeAspect="1"/>
          </p:cNvPicPr>
          <p:nvPr/>
        </p:nvPicPr>
        <p:blipFill>
          <a:blip r:embed="rId2"/>
          <a:stretch>
            <a:fillRect/>
          </a:stretch>
        </p:blipFill>
        <p:spPr>
          <a:xfrm>
            <a:off x="7663663" y="1487190"/>
            <a:ext cx="3485368" cy="2073275"/>
          </a:xfrm>
          <a:prstGeom prst="rect">
            <a:avLst/>
          </a:prstGeom>
        </p:spPr>
      </p:pic>
      <p:sp>
        <p:nvSpPr>
          <p:cNvPr id="5" name="Text 1"/>
          <p:cNvSpPr/>
          <p:nvPr/>
        </p:nvSpPr>
        <p:spPr>
          <a:xfrm>
            <a:off x="7663663" y="3732709"/>
            <a:ext cx="4482293" cy="258564"/>
          </a:xfrm>
          <a:prstGeom prst="rect">
            <a:avLst/>
          </a:prstGeom>
          <a:noFill/>
          <a:ln/>
        </p:spPr>
        <p:txBody>
          <a:bodyPr wrap="none" lIns="0" tIns="0" rIns="0" bIns="0" rtlCol="0" anchor="t"/>
          <a:lstStyle/>
          <a:p>
            <a:pPr algn="l" indent="0" marL="0">
              <a:lnSpc>
                <a:spcPct val="127000"/>
              </a:lnSpc>
              <a:buNone/>
            </a:pPr>
            <a:endParaRPr lang="en-US" sz="1300" dirty="0"/>
          </a:p>
        </p:txBody>
      </p:sp>
      <p:sp>
        <p:nvSpPr>
          <p:cNvPr id="6" name="Text 2"/>
          <p:cNvSpPr/>
          <p:nvPr/>
        </p:nvSpPr>
        <p:spPr>
          <a:xfrm>
            <a:off x="661574" y="4301232"/>
            <a:ext cx="11478132" cy="258564"/>
          </a:xfrm>
          <a:prstGeom prst="rect">
            <a:avLst/>
          </a:prstGeom>
          <a:noFill/>
          <a:ln/>
        </p:spPr>
        <p:txBody>
          <a:bodyPr wrap="none" lIns="0" tIns="0" rIns="0" bIns="0" rtlCol="0" anchor="t"/>
          <a:lstStyle/>
          <a:p>
            <a:pPr algn="l" indent="0" marL="0">
              <a:lnSpc>
                <a:spcPct val="127000"/>
              </a:lnSpc>
              <a:buNone/>
            </a:pPr>
            <a:endParaRPr lang="en-US" sz="1300" dirty="0"/>
          </a:p>
        </p:txBody>
      </p:sp>
      <p:sp>
        <p:nvSpPr>
          <p:cNvPr id="7" name="Text 3"/>
          <p:cNvSpPr/>
          <p:nvPr/>
        </p:nvSpPr>
        <p:spPr>
          <a:xfrm>
            <a:off x="661574" y="4732040"/>
            <a:ext cx="10868547" cy="1141413"/>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1300" dirty="0">
                <a:solidFill>
                  <a:srgbClr val="DAD1E6"/>
                </a:solidFill>
                <a:latin typeface="Fira Sans" pitchFamily="34" charset="0"/>
                <a:ea typeface="Fira Sans" pitchFamily="34" charset="-122"/>
                <a:cs typeface="Fira Sans" pitchFamily="34" charset="-120"/>
              </a:rPr>
              <a:t>The size of the companies lean towards Large (6,120) and Enterprise (4,788), showing that the dataset is mostly comprised by medium-to-large companies. The distribution of the customers base follows the same pattern. </a:t>
            </a:r>
            <a:endParaRPr lang="en-US" sz="1300" dirty="0"/>
          </a:p>
          <a:p>
            <a:pPr algn="l" marL="342900" indent="-342900">
              <a:lnSpc>
                <a:spcPct val="127000"/>
              </a:lnSpc>
              <a:buSzPct val="100000"/>
              <a:buChar char="•"/>
            </a:pPr>
            <a:r>
              <a:rPr lang="en-US" sz="1300" dirty="0">
                <a:solidFill>
                  <a:srgbClr val="DAD1E6"/>
                </a:solidFill>
                <a:latin typeface="Fira Sans" pitchFamily="34" charset="0"/>
                <a:ea typeface="Fira Sans" pitchFamily="34" charset="-122"/>
                <a:cs typeface="Fira Sans" pitchFamily="34" charset="-120"/>
              </a:rPr>
              <a:t>The revenue tier is evenly split with 5,000 records each, underscoring the artificial, controlled nature of the data.</a:t>
            </a:r>
            <a:endParaRPr lang="en-US" sz="1300" dirty="0"/>
          </a:p>
          <a:p>
            <a:pPr algn="l" marL="342900" indent="-342900">
              <a:lnSpc>
                <a:spcPct val="127000"/>
              </a:lnSpc>
              <a:buSzPct val="100000"/>
              <a:buChar char="•"/>
            </a:pPr>
            <a:r>
              <a:rPr lang="en-US" sz="1300" dirty="0">
                <a:solidFill>
                  <a:srgbClr val="DAD1E6"/>
                </a:solidFill>
                <a:latin typeface="Fira Sans" pitchFamily="34" charset="0"/>
                <a:ea typeface="Fira Sans" pitchFamily="34" charset="-122"/>
                <a:cs typeface="Fira Sans" pitchFamily="34" charset="-120"/>
              </a:rPr>
              <a:t>No single industry, country, or region consistently dominates, further confirming the balanced and synthetic nature of the dataset.</a:t>
            </a:r>
            <a:endParaRPr lang="en-US" sz="1300" dirty="0"/>
          </a:p>
        </p:txBody>
      </p:sp>
      <p:sp>
        <p:nvSpPr>
          <p:cNvPr id="8" name="Text 4"/>
          <p:cNvSpPr/>
          <p:nvPr/>
        </p:nvSpPr>
        <p:spPr>
          <a:xfrm>
            <a:off x="661574" y="6045696"/>
            <a:ext cx="11478132" cy="258564"/>
          </a:xfrm>
          <a:prstGeom prst="rect">
            <a:avLst/>
          </a:prstGeom>
          <a:noFill/>
          <a:ln/>
        </p:spPr>
        <p:txBody>
          <a:bodyPr wrap="none" lIns="0" tIns="0" rIns="0" bIns="0" rtlCol="0" anchor="t"/>
          <a:lstStyle/>
          <a:p>
            <a:pPr algn="l" indent="0" marL="0">
              <a:lnSpc>
                <a:spcPct val="127000"/>
              </a:lnSpc>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574" y="776982"/>
            <a:ext cx="5334958"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Outlier Detection</a:t>
            </a:r>
            <a:endParaRPr lang="en-US" sz="3700" dirty="0"/>
          </a:p>
        </p:txBody>
      </p:sp>
      <p:sp>
        <p:nvSpPr>
          <p:cNvPr id="3" name="Text 1"/>
          <p:cNvSpPr/>
          <p:nvPr/>
        </p:nvSpPr>
        <p:spPr>
          <a:xfrm>
            <a:off x="661574" y="2324497"/>
            <a:ext cx="2972222"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Methods Applied</a:t>
            </a:r>
            <a:endParaRPr lang="en-US" sz="1850" dirty="0"/>
          </a:p>
        </p:txBody>
      </p:sp>
      <p:sp>
        <p:nvSpPr>
          <p:cNvPr id="4" name="Text 2"/>
          <p:cNvSpPr/>
          <p:nvPr/>
        </p:nvSpPr>
        <p:spPr>
          <a:xfrm>
            <a:off x="661574" y="2808784"/>
            <a:ext cx="4410560" cy="1039416"/>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IQR Method</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Interquartile range bounds</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Z-Score Method</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Standard deviation thresholds</a:t>
            </a:r>
            <a:endParaRPr lang="en-US" sz="1450" dirty="0"/>
          </a:p>
          <a:p>
            <a:pPr algn="l" marL="342900" indent="-342900">
              <a:lnSpc>
                <a:spcPct val="133000"/>
              </a:lnSpc>
              <a:buSzPct val="100000"/>
              <a:buChar char="•"/>
            </a:pPr>
            <a:r>
              <a:rPr lang="en-US" sz="1450" b="1" dirty="0">
                <a:solidFill>
                  <a:srgbClr val="DAD1E6"/>
                </a:solidFill>
                <a:latin typeface="Fira Sans" pitchFamily="34" charset="0"/>
                <a:ea typeface="Fira Sans" pitchFamily="34" charset="-122"/>
                <a:cs typeface="Fira Sans" pitchFamily="34" charset="-120"/>
              </a:rPr>
              <a:t>Boxplot Visualization</a:t>
            </a:r>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 Visual confirmation</a:t>
            </a:r>
            <a:endParaRPr lang="en-US" sz="1450" dirty="0"/>
          </a:p>
        </p:txBody>
      </p:sp>
      <p:pic>
        <p:nvPicPr>
          <p:cNvPr id="5" name="Image 0" descr="preencoded.png">    </p:cNvPr>
          <p:cNvPicPr>
            <a:picLocks noChangeAspect="1"/>
          </p:cNvPicPr>
          <p:nvPr/>
        </p:nvPicPr>
        <p:blipFill>
          <a:blip r:embed="rId1"/>
          <a:stretch>
            <a:fillRect/>
          </a:stretch>
        </p:blipFill>
        <p:spPr>
          <a:xfrm>
            <a:off x="661574" y="4060825"/>
            <a:ext cx="4410362" cy="1323082"/>
          </a:xfrm>
          <a:prstGeom prst="rect">
            <a:avLst/>
          </a:prstGeom>
        </p:spPr>
      </p:pic>
      <p:pic>
        <p:nvPicPr>
          <p:cNvPr id="6" name="Image 1" descr="preencoded.png">    </p:cNvPr>
          <p:cNvPicPr>
            <a:picLocks noChangeAspect="1"/>
          </p:cNvPicPr>
          <p:nvPr/>
        </p:nvPicPr>
        <p:blipFill>
          <a:blip r:embed="rId2"/>
          <a:stretch>
            <a:fillRect/>
          </a:stretch>
        </p:blipFill>
        <p:spPr>
          <a:xfrm>
            <a:off x="5539641" y="1863725"/>
            <a:ext cx="5996730" cy="2624832"/>
          </a:xfrm>
          <a:prstGeom prst="rect">
            <a:avLst/>
          </a:prstGeom>
        </p:spPr>
      </p:pic>
      <p:sp>
        <p:nvSpPr>
          <p:cNvPr id="7" name="Text 3"/>
          <p:cNvSpPr/>
          <p:nvPr/>
        </p:nvSpPr>
        <p:spPr>
          <a:xfrm>
            <a:off x="5539641" y="4701183"/>
            <a:ext cx="5996730"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No outliers were identified for any of the numerical variables based on the IQR method and Z-score. All values are within the acceptable range. As the count of outliers is 0% in all the cases, no treatment was required. The data is clean and can be used for modeling.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574" y="655538"/>
            <a:ext cx="4862490" cy="531614"/>
          </a:xfrm>
          <a:prstGeom prst="rect">
            <a:avLst/>
          </a:prstGeom>
          <a:noFill/>
          <a:ln/>
        </p:spPr>
        <p:txBody>
          <a:bodyPr wrap="none" lIns="0" tIns="0" rIns="0" bIns="0" rtlCol="0" anchor="t"/>
          <a:lstStyle/>
          <a:p>
            <a:pPr algn="l" indent="0" marL="0">
              <a:lnSpc>
                <a:spcPct val="104000"/>
              </a:lnSpc>
              <a:buNone/>
            </a:pPr>
            <a:r>
              <a:rPr lang="en-US" sz="3300" b="1" dirty="0">
                <a:solidFill>
                  <a:srgbClr val="F94CAF"/>
                </a:solidFill>
                <a:latin typeface="Inconsolata Bold" pitchFamily="34" charset="0"/>
                <a:ea typeface="Inconsolata Bold" pitchFamily="34" charset="-122"/>
                <a:cs typeface="Inconsolata Bold" pitchFamily="34" charset="-120"/>
              </a:rPr>
              <a:t>Bivariate Analysis</a:t>
            </a:r>
            <a:endParaRPr lang="en-US" sz="3300" dirty="0"/>
          </a:p>
        </p:txBody>
      </p:sp>
      <p:pic>
        <p:nvPicPr>
          <p:cNvPr id="3" name="Image 0" descr="preencoded.png">    </p:cNvPr>
          <p:cNvPicPr>
            <a:picLocks noChangeAspect="1"/>
          </p:cNvPicPr>
          <p:nvPr/>
        </p:nvPicPr>
        <p:blipFill>
          <a:blip r:embed="rId1"/>
          <a:stretch>
            <a:fillRect/>
          </a:stretch>
        </p:blipFill>
        <p:spPr>
          <a:xfrm>
            <a:off x="661574" y="1588988"/>
            <a:ext cx="4704042" cy="3092450"/>
          </a:xfrm>
          <a:prstGeom prst="rect">
            <a:avLst/>
          </a:prstGeom>
        </p:spPr>
      </p:pic>
      <p:pic>
        <p:nvPicPr>
          <p:cNvPr id="4" name="Image 1" descr="preencoded.png">    </p:cNvPr>
          <p:cNvPicPr>
            <a:picLocks noChangeAspect="1"/>
          </p:cNvPicPr>
          <p:nvPr/>
        </p:nvPicPr>
        <p:blipFill>
          <a:blip r:embed="rId2"/>
          <a:stretch>
            <a:fillRect/>
          </a:stretch>
        </p:blipFill>
        <p:spPr>
          <a:xfrm>
            <a:off x="6309659" y="1588988"/>
            <a:ext cx="4704042" cy="3097014"/>
          </a:xfrm>
          <a:prstGeom prst="rect">
            <a:avLst/>
          </a:prstGeom>
        </p:spPr>
      </p:pic>
      <p:sp>
        <p:nvSpPr>
          <p:cNvPr id="5" name="Text 1"/>
          <p:cNvSpPr/>
          <p:nvPr/>
        </p:nvSpPr>
        <p:spPr>
          <a:xfrm>
            <a:off x="6309659" y="4858246"/>
            <a:ext cx="5836397" cy="258564"/>
          </a:xfrm>
          <a:prstGeom prst="rect">
            <a:avLst/>
          </a:prstGeom>
          <a:noFill/>
          <a:ln/>
        </p:spPr>
        <p:txBody>
          <a:bodyPr wrap="none" lIns="0" tIns="0" rIns="0" bIns="0" rtlCol="0" anchor="t"/>
          <a:lstStyle/>
          <a:p>
            <a:pPr algn="l" indent="0" marL="0">
              <a:lnSpc>
                <a:spcPct val="127000"/>
              </a:lnSpc>
              <a:buNone/>
            </a:pPr>
            <a:endParaRPr lang="en-US" sz="1300" dirty="0"/>
          </a:p>
        </p:txBody>
      </p:sp>
      <p:sp>
        <p:nvSpPr>
          <p:cNvPr id="6" name="Text 2"/>
          <p:cNvSpPr/>
          <p:nvPr/>
        </p:nvSpPr>
        <p:spPr>
          <a:xfrm>
            <a:off x="661574" y="5426770"/>
            <a:ext cx="10868547" cy="775692"/>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1300" dirty="0">
                <a:solidFill>
                  <a:srgbClr val="DAD1E6"/>
                </a:solidFill>
                <a:latin typeface="Fira Sans" pitchFamily="34" charset="0"/>
                <a:ea typeface="Fira Sans" pitchFamily="34" charset="-122"/>
                <a:cs typeface="Fira Sans" pitchFamily="34" charset="-120"/>
              </a:rPr>
              <a:t>Scatter plots between annual revenue and the number of employees, and between annual revenue and number of customers do not show any obvious pattern. Revenue moves independently at all organizational sizes, validating the weak correlations found in the correlation analysis. Size of staff and size of customer base are not significant predictors of revenue in this data set.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574" y="560983"/>
            <a:ext cx="4329798" cy="443012"/>
          </a:xfrm>
          <a:prstGeom prst="rect">
            <a:avLst/>
          </a:prstGeom>
          <a:noFill/>
          <a:ln/>
        </p:spPr>
        <p:txBody>
          <a:bodyPr wrap="none" lIns="0" tIns="0" rIns="0" bIns="0" rtlCol="0" anchor="t"/>
          <a:lstStyle/>
          <a:p>
            <a:pPr algn="l" indent="0" marL="0">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Multivariate Analysis</a:t>
            </a:r>
            <a:endParaRPr lang="en-US" sz="2750" dirty="0"/>
          </a:p>
        </p:txBody>
      </p:sp>
      <p:pic>
        <p:nvPicPr>
          <p:cNvPr id="3" name="Image 0" descr="preencoded.png">    </p:cNvPr>
          <p:cNvPicPr>
            <a:picLocks noChangeAspect="1"/>
          </p:cNvPicPr>
          <p:nvPr/>
        </p:nvPicPr>
        <p:blipFill>
          <a:blip r:embed="rId1"/>
          <a:stretch>
            <a:fillRect/>
          </a:stretch>
        </p:blipFill>
        <p:spPr>
          <a:xfrm>
            <a:off x="2020142" y="1163439"/>
            <a:ext cx="8151410" cy="4063504"/>
          </a:xfrm>
          <a:prstGeom prst="rect">
            <a:avLst/>
          </a:prstGeom>
        </p:spPr>
      </p:pic>
      <p:sp>
        <p:nvSpPr>
          <p:cNvPr id="4" name="Text 1"/>
          <p:cNvSpPr/>
          <p:nvPr/>
        </p:nvSpPr>
        <p:spPr>
          <a:xfrm>
            <a:off x="661574" y="5346502"/>
            <a:ext cx="11478132" cy="198438"/>
          </a:xfrm>
          <a:prstGeom prst="rect">
            <a:avLst/>
          </a:prstGeom>
          <a:noFill/>
          <a:ln/>
        </p:spPr>
        <p:txBody>
          <a:bodyPr wrap="none" lIns="0" tIns="0" rIns="0" bIns="0" rtlCol="0" anchor="t"/>
          <a:lstStyle/>
          <a:p>
            <a:pPr algn="l" indent="0" marL="0">
              <a:lnSpc>
                <a:spcPct val="117000"/>
              </a:lnSpc>
              <a:buNone/>
            </a:pPr>
            <a:endParaRPr lang="en-US" sz="1100" dirty="0"/>
          </a:p>
        </p:txBody>
      </p:sp>
      <p:sp>
        <p:nvSpPr>
          <p:cNvPr id="5" name="Text 2"/>
          <p:cNvSpPr/>
          <p:nvPr/>
        </p:nvSpPr>
        <p:spPr>
          <a:xfrm>
            <a:off x="661574" y="5664498"/>
            <a:ext cx="10868547" cy="632520"/>
          </a:xfrm>
          <a:prstGeom prst="rect">
            <a:avLst/>
          </a:prstGeom>
          <a:noFill/>
          <a:ln/>
        </p:spPr>
        <p:txBody>
          <a:bodyPr wrap="square" lIns="0" tIns="0" rIns="0" bIns="0" rtlCol="0" anchor="t">
            <a:normAutofit/>
          </a:bodyPr>
          <a:lstStyle/>
          <a:p>
            <a:pPr algn="l" marL="342900" indent="-342900">
              <a:lnSpc>
                <a:spcPct val="117000"/>
              </a:lnSpc>
              <a:buSzPct val="100000"/>
              <a:buChar char="•"/>
            </a:pPr>
            <a:r>
              <a:rPr lang="en-US" sz="1100" dirty="0">
                <a:solidFill>
                  <a:srgbClr val="DAD1E6"/>
                </a:solidFill>
                <a:latin typeface="Fira Sans" pitchFamily="34" charset="0"/>
                <a:ea typeface="Fira Sans" pitchFamily="34" charset="-122"/>
                <a:cs typeface="Fira Sans" pitchFamily="34" charset="-120"/>
              </a:rPr>
              <a:t>Income is stable across all size and region combinations of firms. </a:t>
            </a:r>
            <a:endParaRPr lang="en-US" sz="1100" dirty="0"/>
          </a:p>
          <a:p>
            <a:pPr algn="l" marL="342900" indent="-342900">
              <a:lnSpc>
                <a:spcPct val="117000"/>
              </a:lnSpc>
              <a:buSzPct val="100000"/>
              <a:buChar char="•"/>
            </a:pPr>
            <a:r>
              <a:rPr lang="en-US" sz="1100" dirty="0">
                <a:solidFill>
                  <a:srgbClr val="DAD1E6"/>
                </a:solidFill>
                <a:latin typeface="Fira Sans" pitchFamily="34" charset="0"/>
                <a:ea typeface="Fira Sans" pitchFamily="34" charset="-122"/>
                <a:cs typeface="Fira Sans" pitchFamily="34" charset="-120"/>
              </a:rPr>
              <a:t>There is no sign of an interaction effect size and region do not jointly explain the variation in revenues, further corroborating the finding that important predictor variables are excluded from this data set.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574" y="534888"/>
            <a:ext cx="5098724" cy="561181"/>
          </a:xfrm>
          <a:prstGeom prst="rect">
            <a:avLst/>
          </a:prstGeom>
          <a:noFill/>
          <a:ln/>
        </p:spPr>
        <p:txBody>
          <a:bodyPr wrap="none" lIns="0" tIns="0" rIns="0" bIns="0" rtlCol="0" anchor="t"/>
          <a:lstStyle/>
          <a:p>
            <a:pPr algn="l" indent="0" marL="0">
              <a:lnSpc>
                <a:spcPct val="104000"/>
              </a:lnSpc>
              <a:buNone/>
            </a:pPr>
            <a:r>
              <a:rPr lang="en-US" sz="3500" b="1" dirty="0">
                <a:solidFill>
                  <a:srgbClr val="F94CAF"/>
                </a:solidFill>
                <a:latin typeface="Inconsolata Bold" pitchFamily="34" charset="0"/>
                <a:ea typeface="Inconsolata Bold" pitchFamily="34" charset="-122"/>
                <a:cs typeface="Inconsolata Bold" pitchFamily="34" charset="-120"/>
              </a:rPr>
              <a:t>Correlation Analysis</a:t>
            </a:r>
            <a:endParaRPr lang="en-US" sz="3500" dirty="0"/>
          </a:p>
        </p:txBody>
      </p:sp>
      <p:pic>
        <p:nvPicPr>
          <p:cNvPr id="3" name="Image 0" descr="preencoded.png">    </p:cNvPr>
          <p:cNvPicPr>
            <a:picLocks noChangeAspect="1"/>
          </p:cNvPicPr>
          <p:nvPr/>
        </p:nvPicPr>
        <p:blipFill>
          <a:blip r:embed="rId1"/>
          <a:stretch>
            <a:fillRect/>
          </a:stretch>
        </p:blipFill>
        <p:spPr>
          <a:xfrm>
            <a:off x="661574" y="1543844"/>
            <a:ext cx="4954364" cy="3835301"/>
          </a:xfrm>
          <a:prstGeom prst="rect">
            <a:avLst/>
          </a:prstGeom>
        </p:spPr>
      </p:pic>
      <p:sp>
        <p:nvSpPr>
          <p:cNvPr id="4" name="Text 1"/>
          <p:cNvSpPr/>
          <p:nvPr/>
        </p:nvSpPr>
        <p:spPr>
          <a:xfrm>
            <a:off x="6321267" y="1522512"/>
            <a:ext cx="2854154" cy="280491"/>
          </a:xfrm>
          <a:prstGeom prst="rect">
            <a:avLst/>
          </a:prstGeom>
          <a:noFill/>
          <a:ln/>
        </p:spPr>
        <p:txBody>
          <a:bodyPr wrap="none" lIns="0" tIns="0" rIns="0" bIns="0" rtlCol="0" anchor="t"/>
          <a:lstStyle/>
          <a:p>
            <a:pPr algn="l" indent="0" marL="0">
              <a:lnSpc>
                <a:spcPct val="104000"/>
              </a:lnSpc>
              <a:buNone/>
            </a:pPr>
            <a:r>
              <a:rPr lang="en-US" sz="1750" b="1" dirty="0">
                <a:solidFill>
                  <a:srgbClr val="F94CAF"/>
                </a:solidFill>
                <a:latin typeface="Inconsolata Bold" pitchFamily="34" charset="0"/>
                <a:ea typeface="Inconsolata Bold" pitchFamily="34" charset="-122"/>
                <a:cs typeface="Inconsolata Bold" pitchFamily="34" charset="-120"/>
              </a:rPr>
              <a:t>Correlation summary</a:t>
            </a:r>
            <a:endParaRPr lang="en-US" sz="1750" dirty="0"/>
          </a:p>
        </p:txBody>
      </p:sp>
      <p:sp>
        <p:nvSpPr>
          <p:cNvPr id="5" name="Shape 2"/>
          <p:cNvSpPr/>
          <p:nvPr/>
        </p:nvSpPr>
        <p:spPr>
          <a:xfrm>
            <a:off x="6321267" y="1994892"/>
            <a:ext cx="5215204" cy="3308846"/>
          </a:xfrm>
          <a:prstGeom prst="roundRect">
            <a:avLst>
              <a:gd name="adj" fmla="val 814"/>
            </a:avLst>
          </a:prstGeom>
          <a:noFill/>
          <a:ln w="6350">
            <a:solidFill>
              <a:srgbClr val="FFFFFF">
                <a:alpha val="24000"/>
              </a:srgbClr>
            </a:solidFill>
            <a:prstDash val="solid"/>
          </a:ln>
        </p:spPr>
      </p:sp>
      <p:sp>
        <p:nvSpPr>
          <p:cNvPr id="6" name="Text 3"/>
          <p:cNvSpPr/>
          <p:nvPr/>
        </p:nvSpPr>
        <p:spPr>
          <a:xfrm>
            <a:off x="6507297" y="2109887"/>
            <a:ext cx="2640542" cy="280095"/>
          </a:xfrm>
          <a:prstGeom prst="rect">
            <a:avLst/>
          </a:prstGeom>
          <a:noFill/>
          <a:ln/>
        </p:spPr>
        <p:txBody>
          <a:bodyPr wrap="none" lIns="0" tIns="0" rIns="0" bIns="0" rtlCol="0" anchor="t"/>
          <a:lstStyle/>
          <a:p>
            <a:pPr algn="l" indent="0" marL="0">
              <a:lnSpc>
                <a:spcPct val="130000"/>
              </a:lnSpc>
              <a:buNone/>
            </a:pPr>
            <a:endParaRPr lang="en-US" sz="1400" dirty="0"/>
          </a:p>
        </p:txBody>
      </p:sp>
      <p:sp>
        <p:nvSpPr>
          <p:cNvPr id="7" name="Text 4"/>
          <p:cNvSpPr/>
          <p:nvPr/>
        </p:nvSpPr>
        <p:spPr>
          <a:xfrm>
            <a:off x="8903569" y="2109887"/>
            <a:ext cx="1039290" cy="560189"/>
          </a:xfrm>
          <a:prstGeom prst="rect">
            <a:avLst/>
          </a:prstGeom>
          <a:noFill/>
          <a:ln/>
        </p:spPr>
        <p:txBody>
          <a:bodyPr wrap="square" lIns="0" tIns="0" rIns="0" bIns="0" rtlCol="0" anchor="t">
            <a:normAutofit/>
          </a:bodyPr>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Pearson correlation</a:t>
            </a:r>
            <a:endParaRPr lang="en-US" sz="1400" dirty="0"/>
          </a:p>
        </p:txBody>
      </p:sp>
      <p:sp>
        <p:nvSpPr>
          <p:cNvPr id="8" name="Text 5"/>
          <p:cNvSpPr/>
          <p:nvPr/>
        </p:nvSpPr>
        <p:spPr>
          <a:xfrm>
            <a:off x="10308173" y="2109887"/>
            <a:ext cx="1042465" cy="560189"/>
          </a:xfrm>
          <a:prstGeom prst="rect">
            <a:avLst/>
          </a:prstGeom>
          <a:noFill/>
          <a:ln/>
        </p:spPr>
        <p:txBody>
          <a:bodyPr wrap="square" lIns="0" tIns="0" rIns="0" bIns="0" rtlCol="0" anchor="t">
            <a:normAutofit/>
          </a:bodyPr>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Absolute correlation</a:t>
            </a:r>
            <a:endParaRPr lang="en-US" sz="1400" dirty="0"/>
          </a:p>
        </p:txBody>
      </p:sp>
      <p:sp>
        <p:nvSpPr>
          <p:cNvPr id="9" name="Text 6"/>
          <p:cNvSpPr/>
          <p:nvPr/>
        </p:nvSpPr>
        <p:spPr>
          <a:xfrm>
            <a:off x="6507297" y="2893715"/>
            <a:ext cx="2640542"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market_rating</a:t>
            </a:r>
            <a:endParaRPr lang="en-US" sz="1400" dirty="0"/>
          </a:p>
        </p:txBody>
      </p:sp>
      <p:sp>
        <p:nvSpPr>
          <p:cNvPr id="10" name="Text 7"/>
          <p:cNvSpPr/>
          <p:nvPr/>
        </p:nvSpPr>
        <p:spPr>
          <a:xfrm>
            <a:off x="8903569" y="2893715"/>
            <a:ext cx="164887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0.01464</a:t>
            </a:r>
            <a:endParaRPr lang="en-US" sz="1400" dirty="0"/>
          </a:p>
        </p:txBody>
      </p:sp>
      <p:sp>
        <p:nvSpPr>
          <p:cNvPr id="11" name="Text 8"/>
          <p:cNvSpPr/>
          <p:nvPr/>
        </p:nvSpPr>
        <p:spPr>
          <a:xfrm>
            <a:off x="10308173" y="2893715"/>
            <a:ext cx="165205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0.01464</a:t>
            </a:r>
            <a:endParaRPr lang="en-US" sz="1400" dirty="0"/>
          </a:p>
        </p:txBody>
      </p:sp>
      <p:sp>
        <p:nvSpPr>
          <p:cNvPr id="12" name="Text 9"/>
          <p:cNvSpPr/>
          <p:nvPr/>
        </p:nvSpPr>
        <p:spPr>
          <a:xfrm>
            <a:off x="6507297" y="3397448"/>
            <a:ext cx="2640542"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founded_year</a:t>
            </a:r>
            <a:endParaRPr lang="en-US" sz="1400" dirty="0"/>
          </a:p>
        </p:txBody>
      </p:sp>
      <p:sp>
        <p:nvSpPr>
          <p:cNvPr id="13" name="Text 10"/>
          <p:cNvSpPr/>
          <p:nvPr/>
        </p:nvSpPr>
        <p:spPr>
          <a:xfrm>
            <a:off x="8903569" y="3397448"/>
            <a:ext cx="164887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-0.01184</a:t>
            </a:r>
            <a:endParaRPr lang="en-US" sz="1400" dirty="0"/>
          </a:p>
        </p:txBody>
      </p:sp>
      <p:sp>
        <p:nvSpPr>
          <p:cNvPr id="14" name="Text 11"/>
          <p:cNvSpPr/>
          <p:nvPr/>
        </p:nvSpPr>
        <p:spPr>
          <a:xfrm>
            <a:off x="10308173" y="3397448"/>
            <a:ext cx="165205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0.01184</a:t>
            </a:r>
            <a:endParaRPr lang="en-US" sz="1400" dirty="0"/>
          </a:p>
        </p:txBody>
      </p:sp>
      <p:sp>
        <p:nvSpPr>
          <p:cNvPr id="15" name="Text 12"/>
          <p:cNvSpPr/>
          <p:nvPr/>
        </p:nvSpPr>
        <p:spPr>
          <a:xfrm>
            <a:off x="6507297" y="3901182"/>
            <a:ext cx="2640542"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profit_margin_percent</a:t>
            </a:r>
            <a:endParaRPr lang="en-US" sz="1400" dirty="0"/>
          </a:p>
        </p:txBody>
      </p:sp>
      <p:sp>
        <p:nvSpPr>
          <p:cNvPr id="16" name="Text 13"/>
          <p:cNvSpPr/>
          <p:nvPr/>
        </p:nvSpPr>
        <p:spPr>
          <a:xfrm>
            <a:off x="8903569" y="3901182"/>
            <a:ext cx="164887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-0.00312</a:t>
            </a:r>
            <a:endParaRPr lang="en-US" sz="1400" dirty="0"/>
          </a:p>
        </p:txBody>
      </p:sp>
      <p:sp>
        <p:nvSpPr>
          <p:cNvPr id="17" name="Text 14"/>
          <p:cNvSpPr/>
          <p:nvPr/>
        </p:nvSpPr>
        <p:spPr>
          <a:xfrm>
            <a:off x="10308173" y="3901182"/>
            <a:ext cx="165205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0.00312</a:t>
            </a:r>
            <a:endParaRPr lang="en-US" sz="1400" dirty="0"/>
          </a:p>
        </p:txBody>
      </p:sp>
      <p:sp>
        <p:nvSpPr>
          <p:cNvPr id="18" name="Text 15"/>
          <p:cNvSpPr/>
          <p:nvPr/>
        </p:nvSpPr>
        <p:spPr>
          <a:xfrm>
            <a:off x="6507297" y="4404916"/>
            <a:ext cx="2640542"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customer_count</a:t>
            </a:r>
            <a:endParaRPr lang="en-US" sz="1400" dirty="0"/>
          </a:p>
        </p:txBody>
      </p:sp>
      <p:sp>
        <p:nvSpPr>
          <p:cNvPr id="19" name="Text 16"/>
          <p:cNvSpPr/>
          <p:nvPr/>
        </p:nvSpPr>
        <p:spPr>
          <a:xfrm>
            <a:off x="8903569" y="4404916"/>
            <a:ext cx="164887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-0.00267</a:t>
            </a:r>
            <a:endParaRPr lang="en-US" sz="1400" dirty="0"/>
          </a:p>
        </p:txBody>
      </p:sp>
      <p:sp>
        <p:nvSpPr>
          <p:cNvPr id="20" name="Text 17"/>
          <p:cNvSpPr/>
          <p:nvPr/>
        </p:nvSpPr>
        <p:spPr>
          <a:xfrm>
            <a:off x="10308173" y="4404916"/>
            <a:ext cx="165205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0.00267</a:t>
            </a:r>
            <a:endParaRPr lang="en-US" sz="1400" dirty="0"/>
          </a:p>
        </p:txBody>
      </p:sp>
      <p:sp>
        <p:nvSpPr>
          <p:cNvPr id="21" name="Text 18"/>
          <p:cNvSpPr/>
          <p:nvPr/>
        </p:nvSpPr>
        <p:spPr>
          <a:xfrm>
            <a:off x="6507297" y="4908649"/>
            <a:ext cx="2640542"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employee_count</a:t>
            </a:r>
            <a:endParaRPr lang="en-US" sz="1400" dirty="0"/>
          </a:p>
        </p:txBody>
      </p:sp>
      <p:sp>
        <p:nvSpPr>
          <p:cNvPr id="22" name="Text 19"/>
          <p:cNvSpPr/>
          <p:nvPr/>
        </p:nvSpPr>
        <p:spPr>
          <a:xfrm>
            <a:off x="8903569" y="4908649"/>
            <a:ext cx="164887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-0.00204</a:t>
            </a:r>
            <a:endParaRPr lang="en-US" sz="1400" dirty="0"/>
          </a:p>
        </p:txBody>
      </p:sp>
      <p:sp>
        <p:nvSpPr>
          <p:cNvPr id="23" name="Text 20"/>
          <p:cNvSpPr/>
          <p:nvPr/>
        </p:nvSpPr>
        <p:spPr>
          <a:xfrm>
            <a:off x="10308173" y="4908649"/>
            <a:ext cx="165205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0.00204</a:t>
            </a:r>
            <a:endParaRPr lang="en-US" sz="1400" dirty="0"/>
          </a:p>
        </p:txBody>
      </p:sp>
      <p:sp>
        <p:nvSpPr>
          <p:cNvPr id="24" name="Text 21"/>
          <p:cNvSpPr/>
          <p:nvPr/>
        </p:nvSpPr>
        <p:spPr>
          <a:xfrm>
            <a:off x="661574" y="5762923"/>
            <a:ext cx="10868547" cy="560189"/>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All features have near zero correlations. No one factor can tell why one company makes more than the other. That is the biggest result of the entire project.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574" y="837009"/>
            <a:ext cx="9137917" cy="561181"/>
          </a:xfrm>
          <a:prstGeom prst="rect">
            <a:avLst/>
          </a:prstGeom>
          <a:noFill/>
          <a:ln/>
        </p:spPr>
        <p:txBody>
          <a:bodyPr wrap="none" lIns="0" tIns="0" rIns="0" bIns="0" rtlCol="0" anchor="t"/>
          <a:lstStyle/>
          <a:p>
            <a:pPr algn="l" indent="0" marL="0">
              <a:lnSpc>
                <a:spcPct val="104000"/>
              </a:lnSpc>
              <a:buNone/>
            </a:pPr>
            <a:r>
              <a:rPr lang="en-US" sz="3500" b="1" dirty="0">
                <a:solidFill>
                  <a:srgbClr val="F94CAF"/>
                </a:solidFill>
                <a:latin typeface="Inconsolata Bold" pitchFamily="34" charset="0"/>
                <a:ea typeface="Inconsolata Bold" pitchFamily="34" charset="-122"/>
                <a:cs typeface="Inconsolata Bold" pitchFamily="34" charset="-120"/>
              </a:rPr>
              <a:t>Feature Selection for Machine Learning</a:t>
            </a:r>
            <a:endParaRPr lang="en-US" sz="3500" dirty="0"/>
          </a:p>
        </p:txBody>
      </p:sp>
      <p:sp>
        <p:nvSpPr>
          <p:cNvPr id="3" name="Text 1"/>
          <p:cNvSpPr/>
          <p:nvPr/>
        </p:nvSpPr>
        <p:spPr>
          <a:xfrm>
            <a:off x="661574" y="1739305"/>
            <a:ext cx="11478132" cy="350044"/>
          </a:xfrm>
          <a:prstGeom prst="rect">
            <a:avLst/>
          </a:prstGeom>
          <a:noFill/>
          <a:ln/>
        </p:spPr>
        <p:txBody>
          <a:bodyPr wrap="none" lIns="0" tIns="0" rIns="0" bIns="0" rtlCol="0" anchor="t"/>
          <a:lstStyle/>
          <a:p>
            <a:pPr algn="l" indent="0" marL="0">
              <a:lnSpc>
                <a:spcPct val="130000"/>
              </a:lnSpc>
              <a:buNone/>
            </a:pPr>
            <a:r>
              <a:rPr lang="en-US" sz="1750" dirty="0">
                <a:solidFill>
                  <a:srgbClr val="DAD1E6"/>
                </a:solidFill>
                <a:latin typeface="Fira Sans" pitchFamily="34" charset="0"/>
                <a:ea typeface="Fira Sans" pitchFamily="34" charset="-122"/>
                <a:cs typeface="Fira Sans" pitchFamily="34" charset="-120"/>
              </a:rPr>
              <a:t>Target:</a:t>
            </a:r>
            <a:pPr algn="l" indent="0" marL="0">
              <a:lnSpc>
                <a:spcPct val="130000"/>
              </a:lnSpc>
              <a:buNone/>
            </a:pPr>
            <a:r>
              <a:rPr lang="en-US" sz="1750" b="1" dirty="0">
                <a:solidFill>
                  <a:srgbClr val="DAD1E6"/>
                </a:solidFill>
                <a:latin typeface="Fira Sans" pitchFamily="34" charset="0"/>
                <a:ea typeface="Fira Sans" pitchFamily="34" charset="-122"/>
                <a:cs typeface="Fira Sans" pitchFamily="34" charset="-120"/>
              </a:rPr>
              <a:t> annual_revenue_million</a:t>
            </a:r>
            <a:endParaRPr lang="en-US" sz="1750" dirty="0"/>
          </a:p>
        </p:txBody>
      </p:sp>
      <p:sp>
        <p:nvSpPr>
          <p:cNvPr id="4" name="Shape 2"/>
          <p:cNvSpPr/>
          <p:nvPr/>
        </p:nvSpPr>
        <p:spPr>
          <a:xfrm>
            <a:off x="661574" y="2281238"/>
            <a:ext cx="3509081" cy="3739654"/>
          </a:xfrm>
          <a:prstGeom prst="roundRect">
            <a:avLst>
              <a:gd name="adj" fmla="val 768"/>
            </a:avLst>
          </a:prstGeom>
          <a:solidFill>
            <a:srgbClr val="433550"/>
          </a:solidFill>
          <a:ln/>
        </p:spPr>
      </p:sp>
      <p:sp>
        <p:nvSpPr>
          <p:cNvPr id="5" name="Text 3"/>
          <p:cNvSpPr/>
          <p:nvPr/>
        </p:nvSpPr>
        <p:spPr>
          <a:xfrm>
            <a:off x="841056" y="2460724"/>
            <a:ext cx="2244570" cy="280491"/>
          </a:xfrm>
          <a:prstGeom prst="rect">
            <a:avLst/>
          </a:prstGeom>
          <a:noFill/>
          <a:ln/>
        </p:spPr>
        <p:txBody>
          <a:bodyPr wrap="none" lIns="0" tIns="0" rIns="0" bIns="0" rtlCol="0" anchor="t"/>
          <a:lstStyle/>
          <a:p>
            <a:pPr algn="l" indent="0" marL="0">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Features Used for ML</a:t>
            </a:r>
            <a:endParaRPr lang="en-US" sz="1750" dirty="0"/>
          </a:p>
        </p:txBody>
      </p:sp>
      <p:sp>
        <p:nvSpPr>
          <p:cNvPr id="6" name="Text 4"/>
          <p:cNvSpPr/>
          <p:nvPr/>
        </p:nvSpPr>
        <p:spPr>
          <a:xfrm>
            <a:off x="841056" y="2843510"/>
            <a:ext cx="3150117" cy="2997895"/>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employee_count</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profit_margin_percent</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customer_count</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market_rating</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company_age</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customers_per_employee</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created_year / created_month</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company_size_category (encoded)</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industry, country, region (encoded)</a:t>
            </a:r>
            <a:endParaRPr lang="en-US" sz="1400" dirty="0"/>
          </a:p>
        </p:txBody>
      </p:sp>
      <p:sp>
        <p:nvSpPr>
          <p:cNvPr id="7" name="Shape 5"/>
          <p:cNvSpPr/>
          <p:nvPr/>
        </p:nvSpPr>
        <p:spPr>
          <a:xfrm>
            <a:off x="4341208" y="2281238"/>
            <a:ext cx="3509180" cy="3739654"/>
          </a:xfrm>
          <a:prstGeom prst="roundRect">
            <a:avLst>
              <a:gd name="adj" fmla="val 768"/>
            </a:avLst>
          </a:prstGeom>
          <a:solidFill>
            <a:srgbClr val="433550"/>
          </a:solidFill>
          <a:ln/>
        </p:spPr>
      </p:sp>
      <p:sp>
        <p:nvSpPr>
          <p:cNvPr id="8" name="Text 6"/>
          <p:cNvSpPr/>
          <p:nvPr/>
        </p:nvSpPr>
        <p:spPr>
          <a:xfrm>
            <a:off x="4520690" y="2460724"/>
            <a:ext cx="3150216" cy="560983"/>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Excluded because of Data Leakage</a:t>
            </a:r>
            <a:endParaRPr lang="en-US" sz="1750" dirty="0"/>
          </a:p>
        </p:txBody>
      </p:sp>
      <p:sp>
        <p:nvSpPr>
          <p:cNvPr id="9" name="Text 7"/>
          <p:cNvSpPr/>
          <p:nvPr/>
        </p:nvSpPr>
        <p:spPr>
          <a:xfrm>
            <a:off x="4520690" y="3124002"/>
            <a:ext cx="3150216" cy="2419648"/>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revenue_per_employee (contains target)</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revenue_per_customer (contains target)</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absolute_profit_million (contains target)</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profit_per_employee (indirect leakage)</a:t>
            </a:r>
            <a:endParaRPr lang="en-US" sz="1400" dirty="0"/>
          </a:p>
        </p:txBody>
      </p:sp>
      <p:sp>
        <p:nvSpPr>
          <p:cNvPr id="10" name="Shape 8"/>
          <p:cNvSpPr/>
          <p:nvPr/>
        </p:nvSpPr>
        <p:spPr>
          <a:xfrm>
            <a:off x="8020941" y="2281238"/>
            <a:ext cx="3509180" cy="3739654"/>
          </a:xfrm>
          <a:prstGeom prst="roundRect">
            <a:avLst>
              <a:gd name="adj" fmla="val 768"/>
            </a:avLst>
          </a:prstGeom>
          <a:solidFill>
            <a:srgbClr val="433550"/>
          </a:solidFill>
          <a:ln/>
        </p:spPr>
      </p:sp>
      <p:sp>
        <p:nvSpPr>
          <p:cNvPr id="11" name="Text 9"/>
          <p:cNvSpPr/>
          <p:nvPr/>
        </p:nvSpPr>
        <p:spPr>
          <a:xfrm>
            <a:off x="8200423" y="2460724"/>
            <a:ext cx="2244570" cy="280491"/>
          </a:xfrm>
          <a:prstGeom prst="rect">
            <a:avLst/>
          </a:prstGeom>
          <a:noFill/>
          <a:ln/>
        </p:spPr>
        <p:txBody>
          <a:bodyPr wrap="none" lIns="0" tIns="0" rIns="0" bIns="0" rtlCol="0" anchor="t"/>
          <a:lstStyle/>
          <a:p>
            <a:pPr algn="l" indent="0" marL="0">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Also Dropped</a:t>
            </a:r>
            <a:endParaRPr lang="en-US" sz="1750" dirty="0"/>
          </a:p>
        </p:txBody>
      </p:sp>
      <p:sp>
        <p:nvSpPr>
          <p:cNvPr id="12" name="Text 10"/>
          <p:cNvSpPr/>
          <p:nvPr/>
        </p:nvSpPr>
        <p:spPr>
          <a:xfrm>
            <a:off x="8200423" y="2843510"/>
            <a:ext cx="3150216" cy="1519734"/>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id, company_name (identifiers)</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founded_year (replaced by company_age)</a:t>
            </a:r>
            <a:endParaRPr lang="en-US" sz="1400" dirty="0"/>
          </a:p>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created_date (replaced by year/month)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574" y="851396"/>
            <a:ext cx="5771510" cy="561181"/>
          </a:xfrm>
          <a:prstGeom prst="rect">
            <a:avLst/>
          </a:prstGeom>
          <a:noFill/>
          <a:ln/>
        </p:spPr>
        <p:txBody>
          <a:bodyPr wrap="none" lIns="0" tIns="0" rIns="0" bIns="0" rtlCol="0" anchor="t"/>
          <a:lstStyle/>
          <a:p>
            <a:pPr algn="l" indent="0" marL="0">
              <a:lnSpc>
                <a:spcPct val="104000"/>
              </a:lnSpc>
              <a:buNone/>
            </a:pPr>
            <a:r>
              <a:rPr lang="en-US" sz="3500" b="1" dirty="0">
                <a:solidFill>
                  <a:srgbClr val="F94CAF"/>
                </a:solidFill>
                <a:latin typeface="Inconsolata Bold" pitchFamily="34" charset="0"/>
                <a:ea typeface="Inconsolata Bold" pitchFamily="34" charset="-122"/>
                <a:cs typeface="Inconsolata Bold" pitchFamily="34" charset="-120"/>
              </a:rPr>
              <a:t>Machine Learning Models</a:t>
            </a:r>
            <a:endParaRPr lang="en-US" sz="3500" dirty="0"/>
          </a:p>
        </p:txBody>
      </p:sp>
      <p:sp>
        <p:nvSpPr>
          <p:cNvPr id="3" name="Text 1"/>
          <p:cNvSpPr/>
          <p:nvPr/>
        </p:nvSpPr>
        <p:spPr>
          <a:xfrm>
            <a:off x="661574" y="1753691"/>
            <a:ext cx="11478132"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Five regression algorithms trained and compared</a:t>
            </a:r>
            <a:endParaRPr lang="en-US" sz="1400" dirty="0"/>
          </a:p>
        </p:txBody>
      </p:sp>
      <p:sp>
        <p:nvSpPr>
          <p:cNvPr id="4" name="Shape 2"/>
          <p:cNvSpPr/>
          <p:nvPr/>
        </p:nvSpPr>
        <p:spPr>
          <a:xfrm>
            <a:off x="661574" y="2225675"/>
            <a:ext cx="10868547" cy="3028752"/>
          </a:xfrm>
          <a:prstGeom prst="roundRect">
            <a:avLst>
              <a:gd name="adj" fmla="val 889"/>
            </a:avLst>
          </a:prstGeom>
          <a:noFill/>
          <a:ln w="6350">
            <a:solidFill>
              <a:srgbClr val="FFFFFF">
                <a:alpha val="24000"/>
              </a:srgbClr>
            </a:solidFill>
            <a:prstDash val="solid"/>
          </a:ln>
        </p:spPr>
      </p:sp>
      <p:sp>
        <p:nvSpPr>
          <p:cNvPr id="5" name="Text 3"/>
          <p:cNvSpPr/>
          <p:nvPr/>
        </p:nvSpPr>
        <p:spPr>
          <a:xfrm>
            <a:off x="847605" y="2340670"/>
            <a:ext cx="3938390"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Model</a:t>
            </a:r>
            <a:endParaRPr lang="en-US" sz="1400" dirty="0"/>
          </a:p>
        </p:txBody>
      </p:sp>
      <p:sp>
        <p:nvSpPr>
          <p:cNvPr id="6" name="Text 4"/>
          <p:cNvSpPr/>
          <p:nvPr/>
        </p:nvSpPr>
        <p:spPr>
          <a:xfrm>
            <a:off x="4541724" y="2340670"/>
            <a:ext cx="2632505"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RMSE</a:t>
            </a:r>
            <a:endParaRPr lang="en-US" sz="1400" dirty="0"/>
          </a:p>
        </p:txBody>
      </p:sp>
      <p:sp>
        <p:nvSpPr>
          <p:cNvPr id="7" name="Text 5"/>
          <p:cNvSpPr/>
          <p:nvPr/>
        </p:nvSpPr>
        <p:spPr>
          <a:xfrm>
            <a:off x="6929959" y="2340670"/>
            <a:ext cx="2632505"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MAE</a:t>
            </a:r>
            <a:endParaRPr lang="en-US" sz="1400" dirty="0"/>
          </a:p>
        </p:txBody>
      </p:sp>
      <p:sp>
        <p:nvSpPr>
          <p:cNvPr id="8" name="Text 6"/>
          <p:cNvSpPr/>
          <p:nvPr/>
        </p:nvSpPr>
        <p:spPr>
          <a:xfrm>
            <a:off x="9318193" y="2340670"/>
            <a:ext cx="2635680" cy="280095"/>
          </a:xfrm>
          <a:prstGeom prst="rect">
            <a:avLst/>
          </a:prstGeom>
          <a:noFill/>
          <a:ln/>
        </p:spPr>
        <p:txBody>
          <a:bodyPr wrap="none" lIns="0" tIns="0" rIns="0" bIns="0" rtlCol="0" anchor="t"/>
          <a:lstStyle/>
          <a:p>
            <a:pPr algn="l" indent="0" marL="0">
              <a:lnSpc>
                <a:spcPct val="130000"/>
              </a:lnSpc>
              <a:buNone/>
            </a:pPr>
            <a:r>
              <a:rPr lang="en-US" sz="1400" b="1" dirty="0">
                <a:solidFill>
                  <a:srgbClr val="DAD1E6"/>
                </a:solidFill>
                <a:latin typeface="Fira Sans" pitchFamily="34" charset="0"/>
                <a:ea typeface="Fira Sans" pitchFamily="34" charset="-122"/>
                <a:cs typeface="Fira Sans" pitchFamily="34" charset="-120"/>
              </a:rPr>
              <a:t>R²</a:t>
            </a:r>
            <a:endParaRPr lang="en-US" sz="1400" dirty="0"/>
          </a:p>
        </p:txBody>
      </p:sp>
      <p:sp>
        <p:nvSpPr>
          <p:cNvPr id="9" name="Text 7"/>
          <p:cNvSpPr/>
          <p:nvPr/>
        </p:nvSpPr>
        <p:spPr>
          <a:xfrm>
            <a:off x="847605" y="2844403"/>
            <a:ext cx="393839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Linear Regression</a:t>
            </a:r>
            <a:endParaRPr lang="en-US" sz="1400" dirty="0"/>
          </a:p>
        </p:txBody>
      </p:sp>
      <p:sp>
        <p:nvSpPr>
          <p:cNvPr id="10" name="Text 8"/>
          <p:cNvSpPr/>
          <p:nvPr/>
        </p:nvSpPr>
        <p:spPr>
          <a:xfrm>
            <a:off x="4541724" y="2844403"/>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287.203</a:t>
            </a:r>
            <a:endParaRPr lang="en-US" sz="1400" dirty="0"/>
          </a:p>
        </p:txBody>
      </p:sp>
      <p:sp>
        <p:nvSpPr>
          <p:cNvPr id="11" name="Text 9"/>
          <p:cNvSpPr/>
          <p:nvPr/>
        </p:nvSpPr>
        <p:spPr>
          <a:xfrm>
            <a:off x="6929959" y="2844403"/>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248.339</a:t>
            </a:r>
            <a:endParaRPr lang="en-US" sz="1400" dirty="0"/>
          </a:p>
        </p:txBody>
      </p:sp>
      <p:sp>
        <p:nvSpPr>
          <p:cNvPr id="12" name="Text 10"/>
          <p:cNvSpPr/>
          <p:nvPr/>
        </p:nvSpPr>
        <p:spPr>
          <a:xfrm>
            <a:off x="9318193" y="2844403"/>
            <a:ext cx="263568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-0.0003</a:t>
            </a:r>
            <a:endParaRPr lang="en-US" sz="1400" dirty="0"/>
          </a:p>
        </p:txBody>
      </p:sp>
      <p:sp>
        <p:nvSpPr>
          <p:cNvPr id="13" name="Text 11"/>
          <p:cNvSpPr/>
          <p:nvPr/>
        </p:nvSpPr>
        <p:spPr>
          <a:xfrm>
            <a:off x="847605" y="3348137"/>
            <a:ext cx="393839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Decision Tree</a:t>
            </a:r>
            <a:endParaRPr lang="en-US" sz="1400" dirty="0"/>
          </a:p>
        </p:txBody>
      </p:sp>
      <p:sp>
        <p:nvSpPr>
          <p:cNvPr id="14" name="Text 12"/>
          <p:cNvSpPr/>
          <p:nvPr/>
        </p:nvSpPr>
        <p:spPr>
          <a:xfrm>
            <a:off x="4541724" y="3348137"/>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290.067</a:t>
            </a:r>
            <a:endParaRPr lang="en-US" sz="1400" dirty="0"/>
          </a:p>
        </p:txBody>
      </p:sp>
      <p:sp>
        <p:nvSpPr>
          <p:cNvPr id="15" name="Text 13"/>
          <p:cNvSpPr/>
          <p:nvPr/>
        </p:nvSpPr>
        <p:spPr>
          <a:xfrm>
            <a:off x="6929959" y="3348137"/>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250.219</a:t>
            </a:r>
            <a:endParaRPr lang="en-US" sz="1400" dirty="0"/>
          </a:p>
        </p:txBody>
      </p:sp>
      <p:sp>
        <p:nvSpPr>
          <p:cNvPr id="16" name="Text 14"/>
          <p:cNvSpPr/>
          <p:nvPr/>
        </p:nvSpPr>
        <p:spPr>
          <a:xfrm>
            <a:off x="9318193" y="3348137"/>
            <a:ext cx="263568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-0.0204</a:t>
            </a:r>
            <a:endParaRPr lang="en-US" sz="1400" dirty="0"/>
          </a:p>
        </p:txBody>
      </p:sp>
      <p:sp>
        <p:nvSpPr>
          <p:cNvPr id="17" name="Text 15"/>
          <p:cNvSpPr/>
          <p:nvPr/>
        </p:nvSpPr>
        <p:spPr>
          <a:xfrm>
            <a:off x="847605" y="3851870"/>
            <a:ext cx="393839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Random Forest</a:t>
            </a:r>
            <a:endParaRPr lang="en-US" sz="1400" dirty="0"/>
          </a:p>
        </p:txBody>
      </p:sp>
      <p:sp>
        <p:nvSpPr>
          <p:cNvPr id="18" name="Text 16"/>
          <p:cNvSpPr/>
          <p:nvPr/>
        </p:nvSpPr>
        <p:spPr>
          <a:xfrm>
            <a:off x="4541724" y="3851870"/>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287.572</a:t>
            </a:r>
            <a:endParaRPr lang="en-US" sz="1400" dirty="0"/>
          </a:p>
        </p:txBody>
      </p:sp>
      <p:sp>
        <p:nvSpPr>
          <p:cNvPr id="19" name="Text 17"/>
          <p:cNvSpPr/>
          <p:nvPr/>
        </p:nvSpPr>
        <p:spPr>
          <a:xfrm>
            <a:off x="6929959" y="3851870"/>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248.573</a:t>
            </a:r>
            <a:endParaRPr lang="en-US" sz="1400" dirty="0"/>
          </a:p>
        </p:txBody>
      </p:sp>
      <p:sp>
        <p:nvSpPr>
          <p:cNvPr id="20" name="Text 18"/>
          <p:cNvSpPr/>
          <p:nvPr/>
        </p:nvSpPr>
        <p:spPr>
          <a:xfrm>
            <a:off x="9318193" y="3851870"/>
            <a:ext cx="263568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-0.0029</a:t>
            </a:r>
            <a:endParaRPr lang="en-US" sz="1400" dirty="0"/>
          </a:p>
        </p:txBody>
      </p:sp>
      <p:sp>
        <p:nvSpPr>
          <p:cNvPr id="21" name="Text 19"/>
          <p:cNvSpPr/>
          <p:nvPr/>
        </p:nvSpPr>
        <p:spPr>
          <a:xfrm>
            <a:off x="847605" y="4355604"/>
            <a:ext cx="393839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Gradient Boosting</a:t>
            </a:r>
            <a:endParaRPr lang="en-US" sz="1400" dirty="0"/>
          </a:p>
        </p:txBody>
      </p:sp>
      <p:sp>
        <p:nvSpPr>
          <p:cNvPr id="22" name="Text 20"/>
          <p:cNvSpPr/>
          <p:nvPr/>
        </p:nvSpPr>
        <p:spPr>
          <a:xfrm>
            <a:off x="4541724" y="4355604"/>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289.106</a:t>
            </a:r>
            <a:endParaRPr lang="en-US" sz="1400" dirty="0"/>
          </a:p>
        </p:txBody>
      </p:sp>
      <p:sp>
        <p:nvSpPr>
          <p:cNvPr id="23" name="Text 21"/>
          <p:cNvSpPr/>
          <p:nvPr/>
        </p:nvSpPr>
        <p:spPr>
          <a:xfrm>
            <a:off x="6929959" y="4355604"/>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249.199</a:t>
            </a:r>
            <a:endParaRPr lang="en-US" sz="1400" dirty="0"/>
          </a:p>
        </p:txBody>
      </p:sp>
      <p:sp>
        <p:nvSpPr>
          <p:cNvPr id="24" name="Text 22"/>
          <p:cNvSpPr/>
          <p:nvPr/>
        </p:nvSpPr>
        <p:spPr>
          <a:xfrm>
            <a:off x="9318193" y="4355604"/>
            <a:ext cx="263568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-0.0136</a:t>
            </a:r>
            <a:endParaRPr lang="en-US" sz="1400" dirty="0"/>
          </a:p>
        </p:txBody>
      </p:sp>
      <p:sp>
        <p:nvSpPr>
          <p:cNvPr id="25" name="Text 23"/>
          <p:cNvSpPr/>
          <p:nvPr/>
        </p:nvSpPr>
        <p:spPr>
          <a:xfrm>
            <a:off x="847605" y="4859338"/>
            <a:ext cx="393839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Extra Trees</a:t>
            </a:r>
            <a:endParaRPr lang="en-US" sz="1400" dirty="0"/>
          </a:p>
        </p:txBody>
      </p:sp>
      <p:sp>
        <p:nvSpPr>
          <p:cNvPr id="26" name="Text 24"/>
          <p:cNvSpPr/>
          <p:nvPr/>
        </p:nvSpPr>
        <p:spPr>
          <a:xfrm>
            <a:off x="4541724" y="4859338"/>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291.622</a:t>
            </a:r>
            <a:endParaRPr lang="en-US" sz="1400" dirty="0"/>
          </a:p>
        </p:txBody>
      </p:sp>
      <p:sp>
        <p:nvSpPr>
          <p:cNvPr id="27" name="Text 25"/>
          <p:cNvSpPr/>
          <p:nvPr/>
        </p:nvSpPr>
        <p:spPr>
          <a:xfrm>
            <a:off x="6929959" y="4859338"/>
            <a:ext cx="2632505"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250.215</a:t>
            </a:r>
            <a:endParaRPr lang="en-US" sz="1400" dirty="0"/>
          </a:p>
        </p:txBody>
      </p:sp>
      <p:sp>
        <p:nvSpPr>
          <p:cNvPr id="28" name="Text 26"/>
          <p:cNvSpPr/>
          <p:nvPr/>
        </p:nvSpPr>
        <p:spPr>
          <a:xfrm>
            <a:off x="9318193" y="4859338"/>
            <a:ext cx="2635680" cy="280095"/>
          </a:xfrm>
          <a:prstGeom prst="rect">
            <a:avLst/>
          </a:prstGeom>
          <a:noFill/>
          <a:ln/>
        </p:spPr>
        <p:txBody>
          <a:bodyPr wrap="none" lIns="0" tIns="0" rIns="0" bIns="0" rtlCol="0" anchor="t"/>
          <a:lstStyle/>
          <a:p>
            <a:pPr algn="l" indent="0" marL="0">
              <a:lnSpc>
                <a:spcPct val="130000"/>
              </a:lnSpc>
              <a:buNone/>
            </a:pPr>
            <a:r>
              <a:rPr lang="en-US" sz="1400" dirty="0">
                <a:solidFill>
                  <a:srgbClr val="DAD1E6"/>
                </a:solidFill>
                <a:latin typeface="Fira Sans" pitchFamily="34" charset="0"/>
                <a:ea typeface="Fira Sans" pitchFamily="34" charset="-122"/>
                <a:cs typeface="Fira Sans" pitchFamily="34" charset="-120"/>
              </a:rPr>
              <a:t>-0.0313</a:t>
            </a:r>
            <a:endParaRPr lang="en-US" sz="1400" dirty="0"/>
          </a:p>
        </p:txBody>
      </p:sp>
      <p:sp>
        <p:nvSpPr>
          <p:cNvPr id="29" name="Text 27"/>
          <p:cNvSpPr/>
          <p:nvPr/>
        </p:nvSpPr>
        <p:spPr>
          <a:xfrm>
            <a:off x="661574" y="5446316"/>
            <a:ext cx="10868547" cy="560189"/>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400" dirty="0">
                <a:solidFill>
                  <a:srgbClr val="DAD1E6"/>
                </a:solidFill>
                <a:latin typeface="Fira Sans" pitchFamily="34" charset="0"/>
                <a:ea typeface="Fira Sans" pitchFamily="34" charset="-122"/>
                <a:cs typeface="Fira Sans" pitchFamily="34" charset="-120"/>
              </a:rPr>
              <a:t>Linear Regression attained the largest R² (−0.0003), but all R² values are close to or below zero. The complex models did not exceed the performance of the baseline. This confirms the issue is lack of predictive features, rather than model complexity.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574" y="1564878"/>
            <a:ext cx="5334958"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Key Findings</a:t>
            </a:r>
            <a:endParaRPr lang="en-US" sz="3700" dirty="0"/>
          </a:p>
        </p:txBody>
      </p:sp>
      <p:sp>
        <p:nvSpPr>
          <p:cNvPr id="3" name="Shape 1"/>
          <p:cNvSpPr/>
          <p:nvPr/>
        </p:nvSpPr>
        <p:spPr>
          <a:xfrm>
            <a:off x="661574" y="2533551"/>
            <a:ext cx="2575357" cy="1587698"/>
          </a:xfrm>
          <a:prstGeom prst="roundRect">
            <a:avLst>
              <a:gd name="adj" fmla="val 1786"/>
            </a:avLst>
          </a:prstGeom>
          <a:solidFill>
            <a:srgbClr val="433550"/>
          </a:solidFill>
          <a:ln/>
        </p:spPr>
      </p:sp>
      <p:sp>
        <p:nvSpPr>
          <p:cNvPr id="4" name="Text 2"/>
          <p:cNvSpPr/>
          <p:nvPr/>
        </p:nvSpPr>
        <p:spPr>
          <a:xfrm>
            <a:off x="850581" y="2722563"/>
            <a:ext cx="21973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Revenue is poorly correlated with all business variables, with a maximum r of 0.015.</a:t>
            </a:r>
            <a:endParaRPr lang="en-US" sz="1450" dirty="0"/>
          </a:p>
        </p:txBody>
      </p:sp>
      <p:sp>
        <p:nvSpPr>
          <p:cNvPr id="5" name="Shape 3"/>
          <p:cNvSpPr/>
          <p:nvPr/>
        </p:nvSpPr>
        <p:spPr>
          <a:xfrm>
            <a:off x="3425938" y="2533551"/>
            <a:ext cx="2575357" cy="1587698"/>
          </a:xfrm>
          <a:prstGeom prst="roundRect">
            <a:avLst>
              <a:gd name="adj" fmla="val 1786"/>
            </a:avLst>
          </a:prstGeom>
          <a:solidFill>
            <a:srgbClr val="433550"/>
          </a:solidFill>
          <a:ln/>
        </p:spPr>
      </p:sp>
      <p:sp>
        <p:nvSpPr>
          <p:cNvPr id="6" name="Text 4"/>
          <p:cNvSpPr/>
          <p:nvPr/>
        </p:nvSpPr>
        <p:spPr>
          <a:xfrm>
            <a:off x="3614945" y="2722563"/>
            <a:ext cx="21973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Employee count and customer count do not explain revenue differences.</a:t>
            </a:r>
            <a:endParaRPr lang="en-US" sz="1450" dirty="0"/>
          </a:p>
        </p:txBody>
      </p:sp>
      <p:sp>
        <p:nvSpPr>
          <p:cNvPr id="7" name="Shape 5"/>
          <p:cNvSpPr/>
          <p:nvPr/>
        </p:nvSpPr>
        <p:spPr>
          <a:xfrm>
            <a:off x="6190301" y="2533551"/>
            <a:ext cx="2575357" cy="1587698"/>
          </a:xfrm>
          <a:prstGeom prst="roundRect">
            <a:avLst>
              <a:gd name="adj" fmla="val 1786"/>
            </a:avLst>
          </a:prstGeom>
          <a:solidFill>
            <a:srgbClr val="433550"/>
          </a:solidFill>
          <a:ln/>
        </p:spPr>
      </p:sp>
      <p:sp>
        <p:nvSpPr>
          <p:cNvPr id="8" name="Text 6"/>
          <p:cNvSpPr/>
          <p:nvPr/>
        </p:nvSpPr>
        <p:spPr>
          <a:xfrm>
            <a:off x="6379308" y="2722563"/>
            <a:ext cx="219734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The age of a company has little effect on its revenue performance.</a:t>
            </a:r>
            <a:endParaRPr lang="en-US" sz="1450" dirty="0"/>
          </a:p>
        </p:txBody>
      </p:sp>
      <p:sp>
        <p:nvSpPr>
          <p:cNvPr id="9" name="Shape 7"/>
          <p:cNvSpPr/>
          <p:nvPr/>
        </p:nvSpPr>
        <p:spPr>
          <a:xfrm>
            <a:off x="8954665" y="2533551"/>
            <a:ext cx="2575456" cy="1587698"/>
          </a:xfrm>
          <a:prstGeom prst="roundRect">
            <a:avLst>
              <a:gd name="adj" fmla="val 1786"/>
            </a:avLst>
          </a:prstGeom>
          <a:solidFill>
            <a:srgbClr val="433550"/>
          </a:solidFill>
          <a:ln/>
        </p:spPr>
      </p:sp>
      <p:sp>
        <p:nvSpPr>
          <p:cNvPr id="10" name="Text 8"/>
          <p:cNvSpPr/>
          <p:nvPr/>
        </p:nvSpPr>
        <p:spPr>
          <a:xfrm>
            <a:off x="9143672" y="2722563"/>
            <a:ext cx="2197442"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Industry, country, and region contribute little to predicting revenue.</a:t>
            </a:r>
            <a:endParaRPr lang="en-US" sz="1450" dirty="0"/>
          </a:p>
        </p:txBody>
      </p:sp>
      <p:sp>
        <p:nvSpPr>
          <p:cNvPr id="11" name="Shape 9"/>
          <p:cNvSpPr/>
          <p:nvPr/>
        </p:nvSpPr>
        <p:spPr>
          <a:xfrm>
            <a:off x="661574" y="4310261"/>
            <a:ext cx="5339720" cy="982861"/>
          </a:xfrm>
          <a:prstGeom prst="roundRect">
            <a:avLst>
              <a:gd name="adj" fmla="val 2885"/>
            </a:avLst>
          </a:prstGeom>
          <a:solidFill>
            <a:srgbClr val="433550"/>
          </a:solidFill>
          <a:ln/>
        </p:spPr>
      </p:sp>
      <p:sp>
        <p:nvSpPr>
          <p:cNvPr id="12" name="Text 10"/>
          <p:cNvSpPr/>
          <p:nvPr/>
        </p:nvSpPr>
        <p:spPr>
          <a:xfrm>
            <a:off x="850581" y="4499273"/>
            <a:ext cx="49617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Engineered ratio features have stronger correlations but can lead to data leakage.</a:t>
            </a:r>
            <a:endParaRPr lang="en-US" sz="1450" dirty="0"/>
          </a:p>
        </p:txBody>
      </p:sp>
      <p:sp>
        <p:nvSpPr>
          <p:cNvPr id="13" name="Shape 11"/>
          <p:cNvSpPr/>
          <p:nvPr/>
        </p:nvSpPr>
        <p:spPr>
          <a:xfrm>
            <a:off x="6190301" y="4310261"/>
            <a:ext cx="5339820" cy="982861"/>
          </a:xfrm>
          <a:prstGeom prst="roundRect">
            <a:avLst>
              <a:gd name="adj" fmla="val 2885"/>
            </a:avLst>
          </a:prstGeom>
          <a:solidFill>
            <a:srgbClr val="433550"/>
          </a:solidFill>
          <a:ln/>
        </p:spPr>
      </p:sp>
      <p:sp>
        <p:nvSpPr>
          <p:cNvPr id="14" name="Text 12"/>
          <p:cNvSpPr/>
          <p:nvPr/>
        </p:nvSpPr>
        <p:spPr>
          <a:xfrm>
            <a:off x="6379308" y="4499273"/>
            <a:ext cx="49618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ML results confirm EDA findings — R² near zero across all five models.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574" y="853678"/>
            <a:ext cx="5334958"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Recommendation</a:t>
            </a:r>
            <a:endParaRPr lang="en-US" sz="3700" dirty="0"/>
          </a:p>
        </p:txBody>
      </p:sp>
      <p:sp>
        <p:nvSpPr>
          <p:cNvPr id="3" name="Text 1"/>
          <p:cNvSpPr/>
          <p:nvPr/>
        </p:nvSpPr>
        <p:spPr>
          <a:xfrm>
            <a:off x="661574" y="1822351"/>
            <a:ext cx="10868547" cy="907256"/>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450" dirty="0">
                <a:solidFill>
                  <a:srgbClr val="DAD1E6"/>
                </a:solidFill>
                <a:latin typeface="Fira Sans" pitchFamily="34" charset="0"/>
                <a:ea typeface="Fira Sans" pitchFamily="34" charset="-122"/>
                <a:cs typeface="Fira Sans" pitchFamily="34" charset="-120"/>
              </a:rPr>
              <a:t>Since the annual revenue was not predictable with the variables at hand, businesses should not base revenue estimates on company size, number of customers, market rating, etc. These variables just don't have enough information to tell us why one company earns more than another.</a:t>
            </a:r>
            <a:endParaRPr lang="en-US" sz="1450" dirty="0"/>
          </a:p>
        </p:txBody>
      </p:sp>
      <p:sp>
        <p:nvSpPr>
          <p:cNvPr id="4" name="Shape 2"/>
          <p:cNvSpPr/>
          <p:nvPr/>
        </p:nvSpPr>
        <p:spPr>
          <a:xfrm>
            <a:off x="661574" y="2942233"/>
            <a:ext cx="2575357" cy="2192536"/>
          </a:xfrm>
          <a:prstGeom prst="roundRect">
            <a:avLst>
              <a:gd name="adj" fmla="val 1293"/>
            </a:avLst>
          </a:prstGeom>
          <a:solidFill>
            <a:srgbClr val="433550"/>
          </a:solidFill>
          <a:ln/>
        </p:spPr>
      </p:sp>
      <p:sp>
        <p:nvSpPr>
          <p:cNvPr id="5" name="Text 3"/>
          <p:cNvSpPr/>
          <p:nvPr/>
        </p:nvSpPr>
        <p:spPr>
          <a:xfrm>
            <a:off x="850581" y="3131245"/>
            <a:ext cx="21973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Product Pricing information is one of the most powerful direct revenue drivers.</a:t>
            </a:r>
            <a:endParaRPr lang="en-US" sz="1450" dirty="0"/>
          </a:p>
        </p:txBody>
      </p:sp>
      <p:sp>
        <p:nvSpPr>
          <p:cNvPr id="6" name="Shape 4"/>
          <p:cNvSpPr/>
          <p:nvPr/>
        </p:nvSpPr>
        <p:spPr>
          <a:xfrm>
            <a:off x="3425938" y="2942233"/>
            <a:ext cx="2575357" cy="2192536"/>
          </a:xfrm>
          <a:prstGeom prst="roundRect">
            <a:avLst>
              <a:gd name="adj" fmla="val 1293"/>
            </a:avLst>
          </a:prstGeom>
          <a:solidFill>
            <a:srgbClr val="433550"/>
          </a:solidFill>
          <a:ln/>
        </p:spPr>
      </p:sp>
      <p:sp>
        <p:nvSpPr>
          <p:cNvPr id="7" name="Text 5"/>
          <p:cNvSpPr/>
          <p:nvPr/>
        </p:nvSpPr>
        <p:spPr>
          <a:xfrm>
            <a:off x="3614945" y="3131245"/>
            <a:ext cx="219734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Sales-level data would tell the real story behind the revenue numbers.</a:t>
            </a:r>
            <a:endParaRPr lang="en-US" sz="1450" dirty="0"/>
          </a:p>
        </p:txBody>
      </p:sp>
      <p:sp>
        <p:nvSpPr>
          <p:cNvPr id="8" name="Shape 6"/>
          <p:cNvSpPr/>
          <p:nvPr/>
        </p:nvSpPr>
        <p:spPr>
          <a:xfrm>
            <a:off x="6190301" y="2942233"/>
            <a:ext cx="2575357" cy="2192536"/>
          </a:xfrm>
          <a:prstGeom prst="roundRect">
            <a:avLst>
              <a:gd name="adj" fmla="val 1293"/>
            </a:avLst>
          </a:prstGeom>
          <a:solidFill>
            <a:srgbClr val="433550"/>
          </a:solidFill>
          <a:ln/>
        </p:spPr>
      </p:sp>
      <p:sp>
        <p:nvSpPr>
          <p:cNvPr id="9" name="Text 7"/>
          <p:cNvSpPr/>
          <p:nvPr/>
        </p:nvSpPr>
        <p:spPr>
          <a:xfrm>
            <a:off x="6379308" y="3131245"/>
            <a:ext cx="2197343"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Marketing Spend Advertising and the cost of acquiring customers has a big influence on how much revenue is brought in.</a:t>
            </a:r>
            <a:endParaRPr lang="en-US" sz="1450" dirty="0"/>
          </a:p>
        </p:txBody>
      </p:sp>
      <p:sp>
        <p:nvSpPr>
          <p:cNvPr id="10" name="Shape 8"/>
          <p:cNvSpPr/>
          <p:nvPr/>
        </p:nvSpPr>
        <p:spPr>
          <a:xfrm>
            <a:off x="8954665" y="2942233"/>
            <a:ext cx="2575456" cy="2192536"/>
          </a:xfrm>
          <a:prstGeom prst="roundRect">
            <a:avLst>
              <a:gd name="adj" fmla="val 1293"/>
            </a:avLst>
          </a:prstGeom>
          <a:solidFill>
            <a:srgbClr val="433550"/>
          </a:solidFill>
          <a:ln/>
        </p:spPr>
      </p:sp>
      <p:sp>
        <p:nvSpPr>
          <p:cNvPr id="11" name="Text 9"/>
          <p:cNvSpPr/>
          <p:nvPr/>
        </p:nvSpPr>
        <p:spPr>
          <a:xfrm>
            <a:off x="9143672" y="3131245"/>
            <a:ext cx="2197442"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Churn rates and lifetime values say much more about a company than head count.</a:t>
            </a:r>
            <a:endParaRPr lang="en-US" sz="1450" dirty="0"/>
          </a:p>
        </p:txBody>
      </p:sp>
      <p:sp>
        <p:nvSpPr>
          <p:cNvPr id="12" name="Shape 10"/>
          <p:cNvSpPr/>
          <p:nvPr/>
        </p:nvSpPr>
        <p:spPr>
          <a:xfrm>
            <a:off x="661574" y="5323780"/>
            <a:ext cx="10868547" cy="680442"/>
          </a:xfrm>
          <a:prstGeom prst="roundRect">
            <a:avLst>
              <a:gd name="adj" fmla="val 4167"/>
            </a:avLst>
          </a:prstGeom>
          <a:solidFill>
            <a:srgbClr val="433550"/>
          </a:solidFill>
          <a:ln/>
        </p:spPr>
      </p:sp>
      <p:sp>
        <p:nvSpPr>
          <p:cNvPr id="13" name="Text 11"/>
          <p:cNvSpPr/>
          <p:nvPr/>
        </p:nvSpPr>
        <p:spPr>
          <a:xfrm>
            <a:off x="850581" y="5512792"/>
            <a:ext cx="10490533" cy="302419"/>
          </a:xfrm>
          <a:prstGeom prst="rect">
            <a:avLst/>
          </a:prstGeom>
          <a:noFill/>
          <a:ln/>
        </p:spPr>
        <p:txBody>
          <a:bodyPr wrap="none" lIns="0" tIns="0" rIns="0" bIns="0" rtlCol="0" anchor="t"/>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Cost structure Knowing the cost structure can help explain the true revenue efficiency.</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46503" y="560189"/>
            <a:ext cx="5261141" cy="581422"/>
          </a:xfrm>
          <a:prstGeom prst="rect">
            <a:avLst/>
          </a:prstGeom>
          <a:noFill/>
          <a:ln/>
        </p:spPr>
        <p:txBody>
          <a:bodyPr wrap="none" lIns="0" tIns="0" rIns="0" bIns="0" rtlCol="0" anchor="t"/>
          <a:lstStyle/>
          <a:p>
            <a:pPr algn="l" indent="0" marL="0">
              <a:lnSpc>
                <a:spcPct val="104000"/>
              </a:lnSpc>
              <a:buNone/>
            </a:pPr>
            <a:r>
              <a:rPr lang="en-US" sz="3650" b="1" dirty="0">
                <a:solidFill>
                  <a:srgbClr val="F94CAF"/>
                </a:solidFill>
                <a:latin typeface="Inconsolata Bold" pitchFamily="34" charset="0"/>
                <a:ea typeface="Inconsolata Bold" pitchFamily="34" charset="-122"/>
                <a:cs typeface="Inconsolata Bold" pitchFamily="34" charset="-120"/>
              </a:rPr>
              <a:t>Conclusion</a:t>
            </a:r>
            <a:endParaRPr lang="en-US" sz="3650" dirty="0"/>
          </a:p>
        </p:txBody>
      </p:sp>
      <p:sp>
        <p:nvSpPr>
          <p:cNvPr id="3" name="Text 1"/>
          <p:cNvSpPr/>
          <p:nvPr/>
        </p:nvSpPr>
        <p:spPr>
          <a:xfrm>
            <a:off x="746503" y="1507927"/>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DAD1E6"/>
                </a:solidFill>
                <a:latin typeface="Inconsolata Light" pitchFamily="34" charset="0"/>
                <a:ea typeface="Inconsolata Light" pitchFamily="34" charset="-122"/>
                <a:cs typeface="Inconsolata Light" pitchFamily="34" charset="-120"/>
              </a:rPr>
              <a:t>01</a:t>
            </a:r>
            <a:endParaRPr lang="en-US" sz="1450" dirty="0"/>
          </a:p>
        </p:txBody>
      </p:sp>
      <p:pic>
        <p:nvPicPr>
          <p:cNvPr id="4" name="Image 0" descr="preencoded.png">    </p:cNvPr>
          <p:cNvPicPr>
            <a:picLocks noChangeAspect="1"/>
          </p:cNvPicPr>
          <p:nvPr/>
        </p:nvPicPr>
        <p:blipFill>
          <a:blip r:embed="rId1"/>
          <a:stretch>
            <a:fillRect/>
          </a:stretch>
        </p:blipFill>
        <p:spPr>
          <a:xfrm>
            <a:off x="746503" y="1798737"/>
            <a:ext cx="5257768" cy="25400"/>
          </a:xfrm>
          <a:prstGeom prst="rect">
            <a:avLst/>
          </a:prstGeom>
        </p:spPr>
      </p:pic>
      <p:sp>
        <p:nvSpPr>
          <p:cNvPr id="5" name="Text 2"/>
          <p:cNvSpPr/>
          <p:nvPr/>
        </p:nvSpPr>
        <p:spPr>
          <a:xfrm>
            <a:off x="746503" y="1942505"/>
            <a:ext cx="2325729" cy="290711"/>
          </a:xfrm>
          <a:prstGeom prst="rect">
            <a:avLst/>
          </a:prstGeom>
          <a:noFill/>
          <a:ln/>
        </p:spPr>
        <p:txBody>
          <a:bodyPr wrap="none" lIns="0" tIns="0" rIns="0" bIns="0" rtlCol="0" anchor="t"/>
          <a:lstStyle/>
          <a:p>
            <a:pPr algn="l" indent="0" marL="0">
              <a:lnSpc>
                <a:spcPct val="104000"/>
              </a:lnSpc>
              <a:buNone/>
            </a:pPr>
            <a:r>
              <a:rPr lang="en-US" sz="1800" b="1" dirty="0">
                <a:solidFill>
                  <a:srgbClr val="DAD1E6"/>
                </a:solidFill>
                <a:latin typeface="Inconsolata Bold" pitchFamily="34" charset="0"/>
                <a:ea typeface="Inconsolata Bold" pitchFamily="34" charset="-122"/>
                <a:cs typeface="Inconsolata Bold" pitchFamily="34" charset="-120"/>
              </a:rPr>
              <a:t>Project Goal</a:t>
            </a:r>
            <a:endParaRPr lang="en-US" sz="1800" dirty="0"/>
          </a:p>
        </p:txBody>
      </p:sp>
      <p:sp>
        <p:nvSpPr>
          <p:cNvPr id="6" name="Text 3"/>
          <p:cNvSpPr/>
          <p:nvPr/>
        </p:nvSpPr>
        <p:spPr>
          <a:xfrm>
            <a:off x="746503" y="2343051"/>
            <a:ext cx="5257768" cy="118110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DAD1E6"/>
                </a:solidFill>
                <a:latin typeface="Fira Sans" pitchFamily="34" charset="0"/>
                <a:ea typeface="Fira Sans" pitchFamily="34" charset="-122"/>
                <a:cs typeface="Fira Sans" pitchFamily="34" charset="-120"/>
              </a:rPr>
              <a:t>The goal of this project is to predict annual company revenue using business features like employee count, customer count, profit margin, market rating, company age, industry, country, and region.</a:t>
            </a:r>
            <a:endParaRPr lang="en-US" sz="1450" dirty="0"/>
          </a:p>
        </p:txBody>
      </p:sp>
      <p:sp>
        <p:nvSpPr>
          <p:cNvPr id="7" name="Text 4"/>
          <p:cNvSpPr/>
          <p:nvPr/>
        </p:nvSpPr>
        <p:spPr>
          <a:xfrm>
            <a:off x="6187424" y="1507927"/>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DAD1E6"/>
                </a:solidFill>
                <a:latin typeface="Inconsolata Light" pitchFamily="34" charset="0"/>
                <a:ea typeface="Inconsolata Light" pitchFamily="34" charset="-122"/>
                <a:cs typeface="Inconsolata Light" pitchFamily="34" charset="-120"/>
              </a:rPr>
              <a:t>02</a:t>
            </a:r>
            <a:endParaRPr lang="en-US" sz="1450" dirty="0"/>
          </a:p>
        </p:txBody>
      </p:sp>
      <p:pic>
        <p:nvPicPr>
          <p:cNvPr id="8" name="Image 1" descr="preencoded.png">    </p:cNvPr>
          <p:cNvPicPr>
            <a:picLocks noChangeAspect="1"/>
          </p:cNvPicPr>
          <p:nvPr/>
        </p:nvPicPr>
        <p:blipFill>
          <a:blip r:embed="rId2"/>
          <a:stretch>
            <a:fillRect/>
          </a:stretch>
        </p:blipFill>
        <p:spPr>
          <a:xfrm>
            <a:off x="6187424" y="1817291"/>
            <a:ext cx="5257768" cy="25400"/>
          </a:xfrm>
          <a:prstGeom prst="rect">
            <a:avLst/>
          </a:prstGeom>
        </p:spPr>
      </p:pic>
      <p:sp>
        <p:nvSpPr>
          <p:cNvPr id="9" name="Text 5"/>
          <p:cNvSpPr/>
          <p:nvPr/>
        </p:nvSpPr>
        <p:spPr>
          <a:xfrm>
            <a:off x="6187424" y="1942505"/>
            <a:ext cx="2325729" cy="290711"/>
          </a:xfrm>
          <a:prstGeom prst="rect">
            <a:avLst/>
          </a:prstGeom>
          <a:noFill/>
          <a:ln/>
        </p:spPr>
        <p:txBody>
          <a:bodyPr wrap="none" lIns="0" tIns="0" rIns="0" bIns="0" rtlCol="0" anchor="t"/>
          <a:lstStyle/>
          <a:p>
            <a:pPr algn="l" indent="0" marL="0">
              <a:lnSpc>
                <a:spcPct val="104000"/>
              </a:lnSpc>
              <a:buNone/>
            </a:pPr>
            <a:r>
              <a:rPr lang="en-US" sz="1800" b="1" dirty="0">
                <a:solidFill>
                  <a:srgbClr val="DAD1E6"/>
                </a:solidFill>
                <a:latin typeface="Inconsolata Bold" pitchFamily="34" charset="0"/>
                <a:ea typeface="Inconsolata Bold" pitchFamily="34" charset="-122"/>
                <a:cs typeface="Inconsolata Bold" pitchFamily="34" charset="-120"/>
              </a:rPr>
              <a:t>EDA Findings</a:t>
            </a:r>
            <a:endParaRPr lang="en-US" sz="1800" dirty="0"/>
          </a:p>
        </p:txBody>
      </p:sp>
      <p:sp>
        <p:nvSpPr>
          <p:cNvPr id="10" name="Text 6"/>
          <p:cNvSpPr/>
          <p:nvPr/>
        </p:nvSpPr>
        <p:spPr>
          <a:xfrm>
            <a:off x="6187424" y="2343051"/>
            <a:ext cx="5257768" cy="885825"/>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DAD1E6"/>
                </a:solidFill>
                <a:latin typeface="Fira Sans" pitchFamily="34" charset="0"/>
                <a:ea typeface="Fira Sans" pitchFamily="34" charset="-122"/>
                <a:cs typeface="Fira Sans" pitchFamily="34" charset="-120"/>
              </a:rPr>
              <a:t>After running a full exploratory data analysis, it is clear that most of these variables had very little relationship with revenue. Correlation values are close to zero across the board.</a:t>
            </a:r>
            <a:endParaRPr lang="en-US" sz="1450" dirty="0"/>
          </a:p>
        </p:txBody>
      </p:sp>
      <p:sp>
        <p:nvSpPr>
          <p:cNvPr id="11" name="Text 7"/>
          <p:cNvSpPr/>
          <p:nvPr/>
        </p:nvSpPr>
        <p:spPr>
          <a:xfrm>
            <a:off x="746503" y="3846810"/>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DAD1E6"/>
                </a:solidFill>
                <a:latin typeface="Inconsolata Light" pitchFamily="34" charset="0"/>
                <a:ea typeface="Inconsolata Light" pitchFamily="34" charset="-122"/>
                <a:cs typeface="Inconsolata Light" pitchFamily="34" charset="-120"/>
              </a:rPr>
              <a:t>03</a:t>
            </a:r>
            <a:endParaRPr lang="en-US" sz="1450" dirty="0"/>
          </a:p>
        </p:txBody>
      </p:sp>
      <p:pic>
        <p:nvPicPr>
          <p:cNvPr id="12" name="Image 2" descr="preencoded.png">    </p:cNvPr>
          <p:cNvPicPr>
            <a:picLocks noChangeAspect="1"/>
          </p:cNvPicPr>
          <p:nvPr/>
        </p:nvPicPr>
        <p:blipFill>
          <a:blip r:embed="rId3"/>
          <a:stretch>
            <a:fillRect/>
          </a:stretch>
        </p:blipFill>
        <p:spPr>
          <a:xfrm>
            <a:off x="746503" y="4118967"/>
            <a:ext cx="5257768" cy="25400"/>
          </a:xfrm>
          <a:prstGeom prst="rect">
            <a:avLst/>
          </a:prstGeom>
        </p:spPr>
      </p:pic>
      <p:sp>
        <p:nvSpPr>
          <p:cNvPr id="13" name="Text 8"/>
          <p:cNvSpPr/>
          <p:nvPr/>
        </p:nvSpPr>
        <p:spPr>
          <a:xfrm>
            <a:off x="746503" y="4281388"/>
            <a:ext cx="2325729" cy="290711"/>
          </a:xfrm>
          <a:prstGeom prst="rect">
            <a:avLst/>
          </a:prstGeom>
          <a:noFill/>
          <a:ln/>
        </p:spPr>
        <p:txBody>
          <a:bodyPr wrap="none" lIns="0" tIns="0" rIns="0" bIns="0" rtlCol="0" anchor="t"/>
          <a:lstStyle/>
          <a:p>
            <a:pPr algn="l" indent="0" marL="0">
              <a:lnSpc>
                <a:spcPct val="104000"/>
              </a:lnSpc>
              <a:buNone/>
            </a:pPr>
            <a:r>
              <a:rPr lang="en-US" sz="1800" b="1" dirty="0">
                <a:solidFill>
                  <a:srgbClr val="DAD1E6"/>
                </a:solidFill>
                <a:latin typeface="Inconsolata Bold" pitchFamily="34" charset="0"/>
                <a:ea typeface="Inconsolata Bold" pitchFamily="34" charset="-122"/>
                <a:cs typeface="Inconsolata Bold" pitchFamily="34" charset="-120"/>
              </a:rPr>
              <a:t>Model Results</a:t>
            </a:r>
            <a:endParaRPr lang="en-US" sz="1800" dirty="0"/>
          </a:p>
        </p:txBody>
      </p:sp>
      <p:sp>
        <p:nvSpPr>
          <p:cNvPr id="14" name="Text 9"/>
          <p:cNvSpPr/>
          <p:nvPr/>
        </p:nvSpPr>
        <p:spPr>
          <a:xfrm>
            <a:off x="746503" y="4681934"/>
            <a:ext cx="5257768" cy="1476375"/>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DAD1E6"/>
                </a:solidFill>
                <a:latin typeface="Fira Sans" pitchFamily="34" charset="0"/>
                <a:ea typeface="Fira Sans" pitchFamily="34" charset="-122"/>
                <a:cs typeface="Fira Sans" pitchFamily="34" charset="-120"/>
              </a:rPr>
              <a:t>Five machine learning models are tested, Linear Regression, Decision Tree, Random Forest, Gradient Boosting, and Extra Trees. All of them produced R² scores near or below zero, which means none of the models could reliably predict revenue.</a:t>
            </a:r>
            <a:endParaRPr lang="en-US" sz="1450" dirty="0"/>
          </a:p>
        </p:txBody>
      </p:sp>
      <p:sp>
        <p:nvSpPr>
          <p:cNvPr id="15" name="Text 10"/>
          <p:cNvSpPr/>
          <p:nvPr/>
        </p:nvSpPr>
        <p:spPr>
          <a:xfrm>
            <a:off x="6187424" y="3846810"/>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DAD1E6"/>
                </a:solidFill>
                <a:latin typeface="Inconsolata Light" pitchFamily="34" charset="0"/>
                <a:ea typeface="Inconsolata Light" pitchFamily="34" charset="-122"/>
                <a:cs typeface="Inconsolata Light" pitchFamily="34" charset="-120"/>
              </a:rPr>
              <a:t>04</a:t>
            </a:r>
            <a:endParaRPr lang="en-US" sz="1450" dirty="0"/>
          </a:p>
        </p:txBody>
      </p:sp>
      <p:pic>
        <p:nvPicPr>
          <p:cNvPr id="16" name="Image 3" descr="preencoded.png">    </p:cNvPr>
          <p:cNvPicPr>
            <a:picLocks noChangeAspect="1"/>
          </p:cNvPicPr>
          <p:nvPr/>
        </p:nvPicPr>
        <p:blipFill>
          <a:blip r:embed="rId4"/>
          <a:stretch>
            <a:fillRect/>
          </a:stretch>
        </p:blipFill>
        <p:spPr>
          <a:xfrm>
            <a:off x="6187424" y="4118967"/>
            <a:ext cx="5257768" cy="25400"/>
          </a:xfrm>
          <a:prstGeom prst="rect">
            <a:avLst/>
          </a:prstGeom>
        </p:spPr>
      </p:pic>
      <p:sp>
        <p:nvSpPr>
          <p:cNvPr id="17" name="Text 11"/>
          <p:cNvSpPr/>
          <p:nvPr/>
        </p:nvSpPr>
        <p:spPr>
          <a:xfrm>
            <a:off x="6187424" y="4281388"/>
            <a:ext cx="2325729" cy="290711"/>
          </a:xfrm>
          <a:prstGeom prst="rect">
            <a:avLst/>
          </a:prstGeom>
          <a:noFill/>
          <a:ln/>
        </p:spPr>
        <p:txBody>
          <a:bodyPr wrap="none" lIns="0" tIns="0" rIns="0" bIns="0" rtlCol="0" anchor="t"/>
          <a:lstStyle/>
          <a:p>
            <a:pPr algn="l" indent="0" marL="0">
              <a:lnSpc>
                <a:spcPct val="104000"/>
              </a:lnSpc>
              <a:buNone/>
            </a:pPr>
            <a:r>
              <a:rPr lang="en-US" sz="1800" b="1" dirty="0">
                <a:solidFill>
                  <a:srgbClr val="DAD1E6"/>
                </a:solidFill>
                <a:latin typeface="Inconsolata Bold" pitchFamily="34" charset="0"/>
                <a:ea typeface="Inconsolata Bold" pitchFamily="34" charset="-122"/>
                <a:cs typeface="Inconsolata Bold" pitchFamily="34" charset="-120"/>
              </a:rPr>
              <a:t>Final Takeaway</a:t>
            </a:r>
            <a:endParaRPr lang="en-US" sz="1800" dirty="0"/>
          </a:p>
        </p:txBody>
      </p:sp>
      <p:sp>
        <p:nvSpPr>
          <p:cNvPr id="18" name="Text 12"/>
          <p:cNvSpPr/>
          <p:nvPr/>
        </p:nvSpPr>
        <p:spPr>
          <a:xfrm>
            <a:off x="6187424" y="4681934"/>
            <a:ext cx="5257768" cy="1476375"/>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DAD1E6"/>
                </a:solidFill>
                <a:latin typeface="Fira Sans" pitchFamily="34" charset="0"/>
                <a:ea typeface="Fira Sans" pitchFamily="34" charset="-122"/>
                <a:cs typeface="Fira Sans" pitchFamily="34" charset="-120"/>
              </a:rPr>
              <a:t>Some engineered features showed stronger correlations, but they were built from the target variable itself and could not be used without causing data leakage. The results are therefore an honest reflection of what the dataset can and cannot do.</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3428319" y="2117824"/>
            <a:ext cx="5334958" cy="590649"/>
          </a:xfrm>
          <a:prstGeom prst="rect">
            <a:avLst/>
          </a:prstGeom>
          <a:noFill/>
          <a:ln/>
        </p:spPr>
        <p:txBody>
          <a:bodyPr wrap="none" lIns="0" tIns="0" rIns="0" bIns="0" rtlCol="0" anchor="t"/>
          <a:lstStyle/>
          <a:p>
            <a:pPr algn="ctr"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Thank You</a:t>
            </a:r>
            <a:endParaRPr lang="en-US" sz="3700" dirty="0"/>
          </a:p>
        </p:txBody>
      </p:sp>
      <p:sp>
        <p:nvSpPr>
          <p:cNvPr id="3" name="Shape 1"/>
          <p:cNvSpPr/>
          <p:nvPr/>
        </p:nvSpPr>
        <p:spPr>
          <a:xfrm>
            <a:off x="661574" y="3133725"/>
            <a:ext cx="10868547" cy="14089"/>
          </a:xfrm>
          <a:prstGeom prst="rect">
            <a:avLst/>
          </a:prstGeom>
          <a:solidFill>
            <a:srgbClr val="DAD1E6">
              <a:alpha val="50000"/>
            </a:srgbClr>
          </a:solidFill>
          <a:ln/>
        </p:spPr>
      </p:sp>
      <p:sp>
        <p:nvSpPr>
          <p:cNvPr id="4" name="Text 2"/>
          <p:cNvSpPr/>
          <p:nvPr/>
        </p:nvSpPr>
        <p:spPr>
          <a:xfrm>
            <a:off x="661574" y="3407668"/>
            <a:ext cx="10868547" cy="1332508"/>
          </a:xfrm>
          <a:prstGeom prst="rect">
            <a:avLst/>
          </a:prstGeom>
          <a:noFill/>
          <a:ln/>
        </p:spPr>
        <p:txBody>
          <a:bodyPr wrap="square" lIns="0" tIns="0" rIns="0" bIns="0" rtlCol="0" anchor="t"/>
          <a:lstStyle/>
          <a:p>
            <a:pPr algn="ctr" indent="0" marL="0">
              <a:lnSpc>
                <a:spcPct val="133000"/>
              </a:lnSpc>
              <a:spcAft>
                <a:spcPts val="1650"/>
              </a:spcAft>
              <a:buNone/>
            </a:pPr>
            <a:r>
              <a:rPr lang="en-US" sz="1450" dirty="0">
                <a:solidFill>
                  <a:srgbClr val="DAD1E6"/>
                </a:solidFill>
                <a:latin typeface="Fira Sans" pitchFamily="34" charset="0"/>
                <a:ea typeface="Fira Sans" pitchFamily="34" charset="-122"/>
                <a:cs typeface="Fira Sans" pitchFamily="34" charset="-120"/>
              </a:rPr>
              <a:t>Exploratory Data Analysis &amp; Revenue Forecasting · Industry Dataset</a:t>
            </a:r>
            <a:endParaRPr lang="en-US" sz="1450" dirty="0"/>
          </a:p>
          <a:p>
            <a:pPr algn="ctr" indent="0" marL="0">
              <a:lnSpc>
                <a:spcPct val="133000"/>
              </a:lnSpc>
              <a:spcAft>
                <a:spcPts val="4050"/>
              </a:spcAft>
              <a:buNone/>
            </a:pPr>
            <a:endParaRPr lang="en-US" sz="1450" dirty="0"/>
          </a:p>
          <a:p>
            <a:pPr algn="ctr"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Manisha Nagda · NextHikes IT Solutions · June 2026</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2026-06-10T14:16:03Z</dcterms:created>
  <dcterms:modified xsi:type="dcterms:W3CDTF">2026-06-10T14:16:03Z</dcterms:modified>
</cp:coreProperties>
</file>